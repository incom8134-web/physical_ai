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72"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6509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이미지는 사용자 제공 참고 PPT 1장의 이미지다. 양팔·이동형 개발 방향을 보여주는 참고 이미지이며, 실제 완제품·상용 운영 현장으로 확인된 사진이 아니다.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개념 근거: 참고 PPT 4–6장. 세 구분은 사용자 브리프의 설명 구조다. 기술 간 대체 관계나 모든 로봇의 범용 지능을 의미하지 않는다.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 PPT 4, 6, 7, 10, 13장. 기존 자동화도 센서와 피드백을 사용할 수 있다. 이 비교는 사용자 브리프의 대표적 고정 규칙 방식과 상황 판단 방식의 차이를 단순화한 설명이며 모든 기존 자동화에 대한 배타적 정의는 아니다.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브리프의 산업군과 대표 예시를 활용 검토 대상으로 표현했다. 지니의 고객 실적, 완성 솔루션, 즉시 도입 가능성을 나타내지 않는다. 헬스케어는 의료행위 자동화가 아닌 시설 내 지원 작업 예시로 한정했다.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브리프의 경영진 질문과 준비 단계를 한국어로 구성했다. 특정 시점 도입 또는 로봇 구매를 권유하는 투자 판단 자료가 아니다.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브리프의 대상별 교육·기술 이해 요구를 요약했다. 참고 PPT의 운용·안전·학습 커리큘럼이 교육 방향의 근거다.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교육자료 근거: 참고 PPT 전반. 4영역의 사업 체계와 컨설팅·대여·CS/AS는 사용자 브리프의 서비스 방향이다. 교육 콘텐츠의 존재를 상용 상품 운영 실적으로 확대하지 않았다. CS/AS의 자체 수리, 보증 또는 SLA는 확인되지 않았으며 서비스 책임과 범위는 협의 대상이다. UVNEX 협력 관계는 사용자 설명에 근거하며 G1/GO2 확보 완료를 의미하지 않는다.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G1 이미지: https://uvnex.com/wp-content/uploads/유니트리-EDU-Advanced-휴머노이드.webp
GO2 이미지: https://uvnex.com/wp-content/uploads/유니트리-GO2-EDU-로봇개.webp
공식 제품 정보: https://www.unitree.com/g1/
대여 정보: https://uvnex.com/product/유니트리-g1-휴머노이드-로봇-대여/ 및 https://uvnex.com/product/대여-유니트리-go2-pro-edu-로봇개-렌탈/
GeminiBOT 이미지는 사용자 참고 PPT 1장 및 추가 업로드와 일치하는 참고 이미지. 참고 PPT 22, 77–86장은 양팔·이동형을 개발 목표로 명시한다. 기존 단일팔 JinieBOT의 구현 기능과 양팔·이동형 개발 목표를 혼동하지 않는다. KIRO GeminiBOT 명칭은 사용자 요청을 따랐고 JinieBOT과의 관계는 회사 확인 대상이다.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브리프의 6단계 고객 여정. 제안 경로이며 고객 목적과 검증 결과에 따라 선택·조정된다. 모든 단계의 상용 제공 또는 GeminiBOT 개발 완료를 의미하지 않는다.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브리프의 4개 고객군별 여정. 확정 패키지·공급 일정·투자 성과를 약속하지 않는 제안 경로다. 교육 세부 실습은 실제 완성 장비와 소프트웨어 기준으로 적용한다(참고 PPT 87–103장).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요청의 마무리 메시지와 CTA. 회사명은 제공 PPT에서 확인. 공식 로고 원본, 홈페이지, 연락처, QR 목적지가 제공되지 않아 편집 가능한 삽입 영역을 남겼다. CS/AS·컨설팅·대여·Demo/PoC 제공 범위는 제안 방향 및 협의 대상.
근거·이미지 상세: sources/references.md.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F39"/>
        </a:solid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492AD403-00BA-EB06-1841-1D5274AB8F2F}"/>
              </a:ext>
            </a:extLst>
          </p:cNvPr>
          <p:cNvSpPr/>
          <p:nvPr/>
        </p:nvSpPr>
        <p:spPr>
          <a:xfrm>
            <a:off x="1056814" y="524256"/>
            <a:ext cx="2381250" cy="3718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Shape 0"/>
          <p:cNvSpPr/>
          <p:nvPr/>
        </p:nvSpPr>
        <p:spPr>
          <a:xfrm>
            <a:off x="6243528" y="0"/>
            <a:ext cx="5928360" cy="6858000"/>
          </a:xfrm>
          <a:prstGeom prst="rect">
            <a:avLst/>
          </a:prstGeom>
          <a:solidFill>
            <a:srgbClr val="101F39">
              <a:alpha val="23000"/>
            </a:srgbClr>
          </a:solidFill>
          <a:ln w="12700">
            <a:solidFill>
              <a:srgbClr val="101F39"/>
            </a:solidFill>
            <a:prstDash val="solid"/>
          </a:ln>
        </p:spPr>
        <p:txBody>
          <a:bodyPr/>
          <a:lstStyle/>
          <a:p>
            <a:endParaRPr lang="ko-KR" altLang="en-US" dirty="0"/>
          </a:p>
        </p:txBody>
      </p:sp>
      <p:sp>
        <p:nvSpPr>
          <p:cNvPr id="4" name="Shape 1"/>
          <p:cNvSpPr/>
          <p:nvPr/>
        </p:nvSpPr>
        <p:spPr>
          <a:xfrm>
            <a:off x="0" y="0"/>
            <a:ext cx="5960665" cy="6858000"/>
          </a:xfrm>
          <a:prstGeom prst="rect">
            <a:avLst/>
          </a:prstGeom>
          <a:solidFill>
            <a:srgbClr val="101F39"/>
          </a:solidFill>
          <a:ln w="12700">
            <a:solidFill>
              <a:srgbClr val="101F39"/>
            </a:solidFill>
            <a:prstDash val="solid"/>
          </a:ln>
        </p:spPr>
        <p:txBody>
          <a:bodyPr/>
          <a:lstStyle/>
          <a:p>
            <a:endParaRPr lang="ko-KR" altLang="en-US" dirty="0"/>
          </a:p>
        </p:txBody>
      </p:sp>
      <p:sp>
        <p:nvSpPr>
          <p:cNvPr id="5" name="Shape 2"/>
          <p:cNvSpPr/>
          <p:nvPr/>
        </p:nvSpPr>
        <p:spPr>
          <a:xfrm>
            <a:off x="603503" y="1307592"/>
            <a:ext cx="1387221" cy="45719"/>
          </a:xfrm>
          <a:prstGeom prst="rect">
            <a:avLst/>
          </a:prstGeom>
          <a:solidFill>
            <a:srgbClr val="23B8DA"/>
          </a:solidFill>
          <a:ln w="12700">
            <a:solidFill>
              <a:srgbClr val="23B8DA"/>
            </a:solidFill>
            <a:prstDash val="solid"/>
          </a:ln>
        </p:spPr>
      </p:sp>
      <p:sp>
        <p:nvSpPr>
          <p:cNvPr id="7" name="Text 4"/>
          <p:cNvSpPr/>
          <p:nvPr/>
        </p:nvSpPr>
        <p:spPr>
          <a:xfrm>
            <a:off x="621792" y="1709928"/>
            <a:ext cx="5806440" cy="2414016"/>
          </a:xfrm>
          <a:prstGeom prst="rect">
            <a:avLst/>
          </a:prstGeom>
          <a:noFill/>
          <a:ln/>
        </p:spPr>
        <p:txBody>
          <a:bodyPr wrap="square" lIns="0" tIns="0" rIns="0" bIns="0" rtlCol="0" anchor="ctr"/>
          <a:lstStyle/>
          <a:p>
            <a:pPr marL="0" indent="0">
              <a:lnSpc>
                <a:spcPct val="105000"/>
              </a:lnSpc>
              <a:buNone/>
            </a:pPr>
            <a:r>
              <a:rPr lang="ko-KR" altLang="en-US" sz="4100" b="1" dirty="0">
                <a:solidFill>
                  <a:srgbClr val="FFFFFF"/>
                </a:solidFill>
                <a:latin typeface="Noto Sans KR" pitchFamily="34" charset="0"/>
                <a:ea typeface="Noto Sans KR" pitchFamily="34" charset="-122"/>
                <a:cs typeface="Noto Sans KR" pitchFamily="34" charset="-120"/>
              </a:rPr>
              <a:t>피지컬 AI 시대,</a:t>
            </a:r>
            <a:endParaRPr lang="ko-KR" sz="4100" dirty="0"/>
          </a:p>
          <a:p>
            <a:pPr marL="0" indent="0">
              <a:lnSpc>
                <a:spcPct val="105000"/>
              </a:lnSpc>
              <a:buNone/>
            </a:pPr>
            <a:r>
              <a:rPr lang="ko-KR" altLang="en-US" sz="4100" b="1" dirty="0">
                <a:solidFill>
                  <a:srgbClr val="FFFFFF"/>
                </a:solidFill>
                <a:latin typeface="Noto Sans KR" pitchFamily="34" charset="0"/>
                <a:ea typeface="Noto Sans KR" pitchFamily="34" charset="-122"/>
                <a:cs typeface="Noto Sans KR" pitchFamily="34" charset="-120"/>
              </a:rPr>
              <a:t>비즈니스의</a:t>
            </a:r>
            <a:endParaRPr lang="ko-KR" sz="4100" dirty="0"/>
          </a:p>
          <a:p>
            <a:pPr marL="0" indent="0">
              <a:lnSpc>
                <a:spcPct val="105000"/>
              </a:lnSpc>
              <a:buNone/>
            </a:pPr>
            <a:r>
              <a:rPr lang="ko-KR" altLang="en-US" sz="4100" b="1" dirty="0">
                <a:solidFill>
                  <a:srgbClr val="FFFFFF"/>
                </a:solidFill>
                <a:latin typeface="Noto Sans KR" pitchFamily="34" charset="0"/>
                <a:ea typeface="Noto Sans KR" pitchFamily="34" charset="-122"/>
                <a:cs typeface="Noto Sans KR" pitchFamily="34" charset="-120"/>
              </a:rPr>
              <a:t>다음을 준비하다</a:t>
            </a:r>
            <a:endParaRPr lang="ko-KR" sz="4100" dirty="0"/>
          </a:p>
        </p:txBody>
      </p:sp>
      <p:sp>
        <p:nvSpPr>
          <p:cNvPr id="8" name="Text 5"/>
          <p:cNvSpPr/>
          <p:nvPr/>
        </p:nvSpPr>
        <p:spPr>
          <a:xfrm>
            <a:off x="658368" y="4453128"/>
            <a:ext cx="5321808" cy="786384"/>
          </a:xfrm>
          <a:prstGeom prst="rect">
            <a:avLst/>
          </a:prstGeom>
          <a:noFill/>
          <a:ln/>
        </p:spPr>
        <p:txBody>
          <a:bodyPr wrap="square" lIns="0" tIns="0" rIns="0" bIns="0" rtlCol="0" anchor="ctr"/>
          <a:lstStyle/>
          <a:p>
            <a:pPr marL="0" indent="0">
              <a:buNone/>
            </a:pPr>
            <a:r>
              <a:rPr lang="ko-KR" altLang="en-US" sz="1900" dirty="0">
                <a:solidFill>
                  <a:srgbClr val="B8C9DE"/>
                </a:solidFill>
                <a:latin typeface="Noto Sans KR" pitchFamily="34" charset="0"/>
                <a:ea typeface="Noto Sans KR" pitchFamily="34" charset="-122"/>
                <a:cs typeface="Noto Sans KR" pitchFamily="34" charset="-120"/>
              </a:rPr>
              <a:t>차세대 지능형 로봇을 이해하고 경험하며</a:t>
            </a:r>
            <a:endParaRPr lang="ko-KR" sz="1900" dirty="0"/>
          </a:p>
          <a:p>
            <a:pPr marL="0" indent="0">
              <a:buNone/>
            </a:pPr>
            <a:r>
              <a:rPr lang="ko-KR" altLang="en-US" sz="1900" dirty="0">
                <a:solidFill>
                  <a:srgbClr val="B8C9DE"/>
                </a:solidFill>
                <a:latin typeface="Noto Sans KR" pitchFamily="34" charset="0"/>
                <a:ea typeface="Noto Sans KR" pitchFamily="34" charset="-122"/>
                <a:cs typeface="Noto Sans KR" pitchFamily="34" charset="-120"/>
              </a:rPr>
              <a:t>기업과 사람이 함께 준비하는 방법</a:t>
            </a:r>
            <a:endParaRPr lang="ko-KR" sz="1900" dirty="0"/>
          </a:p>
        </p:txBody>
      </p:sp>
      <p:sp>
        <p:nvSpPr>
          <p:cNvPr id="9" name="Text 6"/>
          <p:cNvSpPr/>
          <p:nvPr/>
        </p:nvSpPr>
        <p:spPr>
          <a:xfrm>
            <a:off x="1227121" y="6006136"/>
            <a:ext cx="4937760" cy="310896"/>
          </a:xfrm>
          <a:prstGeom prst="rect">
            <a:avLst/>
          </a:prstGeom>
          <a:noFill/>
          <a:ln/>
        </p:spPr>
        <p:txBody>
          <a:bodyPr wrap="square" lIns="0" tIns="0" rIns="0" bIns="0" rtlCol="0" anchor="ctr"/>
          <a:lstStyle/>
          <a:p>
            <a:pPr marL="0" indent="0">
              <a:buNone/>
            </a:pPr>
            <a:r>
              <a:rPr lang="ko-KR" altLang="en-US" sz="1700" b="1" dirty="0">
                <a:solidFill>
                  <a:srgbClr val="FFFFFF"/>
                </a:solidFill>
                <a:latin typeface="Noto Sans KR" pitchFamily="34" charset="0"/>
                <a:ea typeface="Noto Sans KR" pitchFamily="34" charset="-122"/>
                <a:cs typeface="Noto Sans KR" pitchFamily="34" charset="-120"/>
              </a:rPr>
              <a:t>지니에듀테크(주)</a:t>
            </a:r>
            <a:endParaRPr lang="ko-KR" sz="1700" dirty="0"/>
          </a:p>
        </p:txBody>
      </p:sp>
      <p:sp>
        <p:nvSpPr>
          <p:cNvPr id="10" name="Text 7"/>
          <p:cNvSpPr/>
          <p:nvPr/>
        </p:nvSpPr>
        <p:spPr>
          <a:xfrm>
            <a:off x="7315200" y="6473952"/>
            <a:ext cx="4389120" cy="192024"/>
          </a:xfrm>
          <a:prstGeom prst="rect">
            <a:avLst/>
          </a:prstGeom>
          <a:noFill/>
          <a:ln/>
        </p:spPr>
        <p:txBody>
          <a:bodyPr wrap="square" lIns="0" tIns="0" rIns="0" bIns="0" rtlCol="0" anchor="ctr"/>
          <a:lstStyle/>
          <a:p>
            <a:pPr marL="0" indent="0" algn="r">
              <a:buNone/>
            </a:pPr>
            <a:r>
              <a:rPr lang="ko-KR" altLang="en-US" sz="900" dirty="0">
                <a:solidFill>
                  <a:srgbClr val="E1E8F2"/>
                </a:solidFill>
                <a:latin typeface="Noto Sans KR" pitchFamily="34" charset="0"/>
                <a:ea typeface="Noto Sans KR" pitchFamily="34" charset="-122"/>
                <a:cs typeface="Noto Sans KR" pitchFamily="34" charset="-120"/>
              </a:rPr>
              <a:t>양팔·이동형 교육 환경 참고 이미지</a:t>
            </a:r>
            <a:endParaRPr lang="ko-KR" sz="900" dirty="0"/>
          </a:p>
        </p:txBody>
      </p:sp>
      <p:pic>
        <p:nvPicPr>
          <p:cNvPr id="12" name="Picture 11">
            <a:extLst>
              <a:ext uri="{FF2B5EF4-FFF2-40B4-BE49-F238E27FC236}">
                <a16:creationId xmlns:a16="http://schemas.microsoft.com/office/drawing/2014/main" id="{C10EC118-C7B9-9D50-7CBF-4BD4B53ACD86}"/>
              </a:ext>
            </a:extLst>
          </p:cNvPr>
          <p:cNvPicPr>
            <a:picLocks noChangeAspect="1"/>
          </p:cNvPicPr>
          <p:nvPr/>
        </p:nvPicPr>
        <p:blipFill>
          <a:blip r:embed="rId3"/>
          <a:stretch>
            <a:fillRect/>
          </a:stretch>
        </p:blipFill>
        <p:spPr>
          <a:xfrm>
            <a:off x="6164881" y="0"/>
            <a:ext cx="6007007" cy="6858000"/>
          </a:xfrm>
          <a:prstGeom prst="rect">
            <a:avLst/>
          </a:prstGeom>
        </p:spPr>
      </p:pic>
      <p:sp>
        <p:nvSpPr>
          <p:cNvPr id="17" name="TextBox 16">
            <a:extLst>
              <a:ext uri="{FF2B5EF4-FFF2-40B4-BE49-F238E27FC236}">
                <a16:creationId xmlns:a16="http://schemas.microsoft.com/office/drawing/2014/main" id="{382EEBA3-231A-7D6E-2357-520400AFB339}"/>
              </a:ext>
            </a:extLst>
          </p:cNvPr>
          <p:cNvSpPr txBox="1"/>
          <p:nvPr/>
        </p:nvSpPr>
        <p:spPr>
          <a:xfrm>
            <a:off x="5605462" y="2786062"/>
            <a:ext cx="914400" cy="914400"/>
          </a:xfrm>
          <a:prstGeom prst="rect">
            <a:avLst/>
          </a:prstGeom>
          <a:noFill/>
        </p:spPr>
        <p:txBody>
          <a:bodyPr wrap="square" rtlCol="0">
            <a:spAutoFit/>
          </a:bodyPr>
          <a:lstStyle/>
          <a:p>
            <a:endParaRPr lang="ko-KR" altLang="en-US" dirty="0"/>
          </a:p>
        </p:txBody>
      </p:sp>
      <p:sp>
        <p:nvSpPr>
          <p:cNvPr id="18" name="TextBox 17">
            <a:extLst>
              <a:ext uri="{FF2B5EF4-FFF2-40B4-BE49-F238E27FC236}">
                <a16:creationId xmlns:a16="http://schemas.microsoft.com/office/drawing/2014/main" id="{BCD360F8-C40A-31C0-2392-B32E3BB8AC40}"/>
              </a:ext>
            </a:extLst>
          </p:cNvPr>
          <p:cNvSpPr txBox="1"/>
          <p:nvPr/>
        </p:nvSpPr>
        <p:spPr>
          <a:xfrm>
            <a:off x="1261872" y="790575"/>
            <a:ext cx="2767203" cy="590169"/>
          </a:xfrm>
          <a:prstGeom prst="rect">
            <a:avLst/>
          </a:prstGeom>
          <a:noFill/>
        </p:spPr>
        <p:txBody>
          <a:bodyPr wrap="square" rtlCol="0">
            <a:spAutoFit/>
          </a:bodyPr>
          <a:lstStyle/>
          <a:p>
            <a:endParaRPr lang="ko-KR" altLang="en-US" dirty="0"/>
          </a:p>
        </p:txBody>
      </p:sp>
      <p:pic>
        <p:nvPicPr>
          <p:cNvPr id="21" name="Picture 20">
            <a:extLst>
              <a:ext uri="{FF2B5EF4-FFF2-40B4-BE49-F238E27FC236}">
                <a16:creationId xmlns:a16="http://schemas.microsoft.com/office/drawing/2014/main" id="{A0CC9C5F-5CF5-1814-32C7-2C1E6B5A29A1}"/>
              </a:ext>
            </a:extLst>
          </p:cNvPr>
          <p:cNvPicPr>
            <a:picLocks noChangeAspect="1"/>
          </p:cNvPicPr>
          <p:nvPr/>
        </p:nvPicPr>
        <p:blipFill>
          <a:blip r:embed="rId4"/>
          <a:srcRect r="80745" b="30489"/>
          <a:stretch>
            <a:fillRect/>
          </a:stretch>
        </p:blipFill>
        <p:spPr>
          <a:xfrm>
            <a:off x="587121" y="5690013"/>
            <a:ext cx="593227" cy="717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AI는 화면을 넘어, 현실의 행동으로 확장됩니다</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디지털 정보를 다루는 지능에서 물리 환경과 상호작용하는 지능으로</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02</a:t>
            </a:r>
            <a:endParaRPr lang="ko-KR" sz="1000" dirty="0"/>
          </a:p>
        </p:txBody>
      </p:sp>
      <p:sp>
        <p:nvSpPr>
          <p:cNvPr id="8" name="Shape 6"/>
          <p:cNvSpPr/>
          <p:nvPr/>
        </p:nvSpPr>
        <p:spPr>
          <a:xfrm>
            <a:off x="1252728" y="3090672"/>
            <a:ext cx="9262872" cy="0"/>
          </a:xfrm>
          <a:prstGeom prst="line">
            <a:avLst/>
          </a:prstGeom>
          <a:noFill/>
          <a:ln w="50800">
            <a:solidFill>
              <a:srgbClr val="D9E2ED"/>
            </a:solidFill>
            <a:prstDash val="solid"/>
          </a:ln>
        </p:spPr>
      </p:sp>
      <p:sp>
        <p:nvSpPr>
          <p:cNvPr id="9" name="Shape 7"/>
          <p:cNvSpPr/>
          <p:nvPr/>
        </p:nvSpPr>
        <p:spPr>
          <a:xfrm>
            <a:off x="822960" y="2578608"/>
            <a:ext cx="1024128" cy="1024128"/>
          </a:xfrm>
          <a:prstGeom prst="ellipse">
            <a:avLst/>
          </a:prstGeom>
          <a:solidFill>
            <a:srgbClr val="FFFFFF"/>
          </a:solidFill>
          <a:ln w="27940">
            <a:solidFill>
              <a:srgbClr val="5D6C82"/>
            </a:solidFill>
            <a:prstDash val="solid"/>
          </a:ln>
        </p:spPr>
      </p:sp>
      <p:sp>
        <p:nvSpPr>
          <p:cNvPr id="10" name="Text 8"/>
          <p:cNvSpPr/>
          <p:nvPr/>
        </p:nvSpPr>
        <p:spPr>
          <a:xfrm>
            <a:off x="822960" y="2761488"/>
            <a:ext cx="1024128" cy="393192"/>
          </a:xfrm>
          <a:prstGeom prst="rect">
            <a:avLst/>
          </a:prstGeom>
          <a:noFill/>
          <a:ln/>
        </p:spPr>
        <p:txBody>
          <a:bodyPr wrap="square" lIns="0" tIns="0" rIns="0" bIns="0" rtlCol="0" anchor="ctr"/>
          <a:lstStyle/>
          <a:p>
            <a:pPr marL="0" indent="0" algn="ctr">
              <a:buNone/>
            </a:pPr>
            <a:r>
              <a:rPr lang="ko-KR" altLang="en-US" sz="2400" b="1" dirty="0">
                <a:solidFill>
                  <a:srgbClr val="5D6C82"/>
                </a:solidFill>
                <a:latin typeface="Noto Sans KR" pitchFamily="34" charset="0"/>
                <a:ea typeface="Noto Sans KR" pitchFamily="34" charset="-122"/>
                <a:cs typeface="Noto Sans KR" pitchFamily="34" charset="-120"/>
              </a:rPr>
              <a:t>01</a:t>
            </a:r>
            <a:endParaRPr lang="ko-KR" sz="2400" dirty="0"/>
          </a:p>
        </p:txBody>
      </p:sp>
      <p:sp>
        <p:nvSpPr>
          <p:cNvPr id="11" name="Shape 9"/>
          <p:cNvSpPr/>
          <p:nvPr/>
        </p:nvSpPr>
        <p:spPr>
          <a:xfrm>
            <a:off x="4572000" y="2578608"/>
            <a:ext cx="1024128" cy="1024128"/>
          </a:xfrm>
          <a:prstGeom prst="ellipse">
            <a:avLst/>
          </a:prstGeom>
          <a:solidFill>
            <a:srgbClr val="FFFFFF"/>
          </a:solidFill>
          <a:ln w="27940">
            <a:solidFill>
              <a:srgbClr val="245FF2"/>
            </a:solidFill>
            <a:prstDash val="solid"/>
          </a:ln>
        </p:spPr>
      </p:sp>
      <p:sp>
        <p:nvSpPr>
          <p:cNvPr id="12" name="Text 10"/>
          <p:cNvSpPr/>
          <p:nvPr/>
        </p:nvSpPr>
        <p:spPr>
          <a:xfrm>
            <a:off x="4572000" y="2761488"/>
            <a:ext cx="1024128" cy="393192"/>
          </a:xfrm>
          <a:prstGeom prst="rect">
            <a:avLst/>
          </a:prstGeom>
          <a:noFill/>
          <a:ln/>
        </p:spPr>
        <p:txBody>
          <a:bodyPr wrap="square" lIns="0" tIns="0" rIns="0" bIns="0" rtlCol="0" anchor="ctr"/>
          <a:lstStyle/>
          <a:p>
            <a:pPr marL="0" indent="0" algn="ctr">
              <a:buNone/>
            </a:pPr>
            <a:r>
              <a:rPr lang="ko-KR" altLang="en-US" sz="2400" b="1" dirty="0">
                <a:solidFill>
                  <a:srgbClr val="245FF2"/>
                </a:solidFill>
                <a:latin typeface="Noto Sans KR" pitchFamily="34" charset="0"/>
                <a:ea typeface="Noto Sans KR" pitchFamily="34" charset="-122"/>
                <a:cs typeface="Noto Sans KR" pitchFamily="34" charset="-120"/>
              </a:rPr>
              <a:t>02</a:t>
            </a:r>
            <a:endParaRPr lang="ko-KR" sz="2400" dirty="0"/>
          </a:p>
        </p:txBody>
      </p:sp>
      <p:sp>
        <p:nvSpPr>
          <p:cNvPr id="13" name="Shape 11"/>
          <p:cNvSpPr/>
          <p:nvPr/>
        </p:nvSpPr>
        <p:spPr>
          <a:xfrm>
            <a:off x="8302752" y="2578608"/>
            <a:ext cx="1024128" cy="1024128"/>
          </a:xfrm>
          <a:prstGeom prst="ellipse">
            <a:avLst/>
          </a:prstGeom>
          <a:solidFill>
            <a:srgbClr val="FFFFFF"/>
          </a:solidFill>
          <a:ln w="27940">
            <a:solidFill>
              <a:srgbClr val="23B8DA"/>
            </a:solidFill>
            <a:prstDash val="solid"/>
          </a:ln>
        </p:spPr>
      </p:sp>
      <p:sp>
        <p:nvSpPr>
          <p:cNvPr id="14" name="Text 12"/>
          <p:cNvSpPr/>
          <p:nvPr/>
        </p:nvSpPr>
        <p:spPr>
          <a:xfrm>
            <a:off x="8302752" y="2761488"/>
            <a:ext cx="1024128" cy="393192"/>
          </a:xfrm>
          <a:prstGeom prst="rect">
            <a:avLst/>
          </a:prstGeom>
          <a:noFill/>
          <a:ln/>
        </p:spPr>
        <p:txBody>
          <a:bodyPr wrap="square" lIns="0" tIns="0" rIns="0" bIns="0" rtlCol="0" anchor="ctr"/>
          <a:lstStyle/>
          <a:p>
            <a:pPr marL="0" indent="0" algn="ctr">
              <a:buNone/>
            </a:pPr>
            <a:r>
              <a:rPr lang="ko-KR" altLang="en-US" sz="2400" b="1" dirty="0">
                <a:solidFill>
                  <a:srgbClr val="23B8DA"/>
                </a:solidFill>
                <a:latin typeface="Noto Sans KR" pitchFamily="34" charset="0"/>
                <a:ea typeface="Noto Sans KR" pitchFamily="34" charset="-122"/>
                <a:cs typeface="Noto Sans KR" pitchFamily="34" charset="-120"/>
              </a:rPr>
              <a:t>03</a:t>
            </a:r>
            <a:endParaRPr lang="ko-KR" sz="2400" dirty="0"/>
          </a:p>
        </p:txBody>
      </p:sp>
      <p:sp>
        <p:nvSpPr>
          <p:cNvPr id="15" name="Shape 13"/>
          <p:cNvSpPr/>
          <p:nvPr/>
        </p:nvSpPr>
        <p:spPr>
          <a:xfrm>
            <a:off x="2194560" y="3090672"/>
            <a:ext cx="2029968" cy="0"/>
          </a:xfrm>
          <a:prstGeom prst="line">
            <a:avLst/>
          </a:prstGeom>
          <a:noFill/>
          <a:ln w="25400">
            <a:solidFill>
              <a:srgbClr val="245FF2"/>
            </a:solidFill>
            <a:prstDash val="solid"/>
            <a:headEnd type="none"/>
            <a:tailEnd type="triangle"/>
          </a:ln>
        </p:spPr>
      </p:sp>
      <p:sp>
        <p:nvSpPr>
          <p:cNvPr id="16" name="Shape 14"/>
          <p:cNvSpPr/>
          <p:nvPr/>
        </p:nvSpPr>
        <p:spPr>
          <a:xfrm>
            <a:off x="5943600" y="3090672"/>
            <a:ext cx="2057400" cy="0"/>
          </a:xfrm>
          <a:prstGeom prst="line">
            <a:avLst/>
          </a:prstGeom>
          <a:noFill/>
          <a:ln w="25400">
            <a:solidFill>
              <a:srgbClr val="245FF2"/>
            </a:solidFill>
            <a:prstDash val="solid"/>
            <a:headEnd type="none"/>
            <a:tailEnd type="triangle"/>
          </a:ln>
        </p:spPr>
        <p:txBody>
          <a:bodyPr/>
          <a:lstStyle/>
          <a:p>
            <a:endParaRPr lang="ko-KR" altLang="en-US" dirty="0"/>
          </a:p>
        </p:txBody>
      </p:sp>
      <p:sp>
        <p:nvSpPr>
          <p:cNvPr id="17" name="Text 15"/>
          <p:cNvSpPr/>
          <p:nvPr/>
        </p:nvSpPr>
        <p:spPr>
          <a:xfrm>
            <a:off x="822960" y="1956816"/>
            <a:ext cx="3200400" cy="219456"/>
          </a:xfrm>
          <a:prstGeom prst="rect">
            <a:avLst/>
          </a:prstGeom>
          <a:noFill/>
          <a:ln/>
        </p:spPr>
        <p:txBody>
          <a:bodyPr wrap="square" lIns="0" tIns="0" rIns="0" bIns="0" rtlCol="0" anchor="ctr"/>
          <a:lstStyle/>
          <a:p>
            <a:pPr marL="0" indent="0">
              <a:buNone/>
            </a:pPr>
            <a:r>
              <a:rPr lang="ko-KR" altLang="en-US" b="1" kern="0" spc="110" dirty="0">
                <a:solidFill>
                  <a:srgbClr val="5D6C82"/>
                </a:solidFill>
                <a:latin typeface="Noto Sans KR" pitchFamily="34" charset="0"/>
                <a:ea typeface="Noto Sans KR" pitchFamily="34" charset="-122"/>
                <a:cs typeface="Noto Sans KR" pitchFamily="34" charset="-120"/>
              </a:rPr>
              <a:t>전통적 소프트웨어</a:t>
            </a:r>
            <a:endParaRPr lang="ko-KR" dirty="0"/>
          </a:p>
        </p:txBody>
      </p:sp>
      <p:sp>
        <p:nvSpPr>
          <p:cNvPr id="18" name="Text 16"/>
          <p:cNvSpPr/>
          <p:nvPr/>
        </p:nvSpPr>
        <p:spPr>
          <a:xfrm>
            <a:off x="822960" y="3904488"/>
            <a:ext cx="3200400" cy="420624"/>
          </a:xfrm>
          <a:prstGeom prst="rect">
            <a:avLst/>
          </a:prstGeom>
          <a:noFill/>
          <a:ln/>
        </p:spPr>
        <p:txBody>
          <a:bodyPr wrap="square" lIns="0" tIns="0" rIns="0" bIns="0" rtlCol="0" anchor="ctr"/>
          <a:lstStyle/>
          <a:p>
            <a:pPr marL="0" indent="0">
              <a:buNone/>
            </a:pPr>
            <a:r>
              <a:rPr lang="ko-KR" altLang="en-US" sz="2400" b="1" dirty="0">
                <a:solidFill>
                  <a:srgbClr val="172A45"/>
                </a:solidFill>
                <a:latin typeface="Noto Sans KR" pitchFamily="34" charset="0"/>
                <a:ea typeface="Noto Sans KR" pitchFamily="34" charset="-122"/>
                <a:cs typeface="Noto Sans KR" pitchFamily="34" charset="-120"/>
              </a:rPr>
              <a:t>규칙을 프로그래밍</a:t>
            </a:r>
            <a:endParaRPr lang="ko-KR" sz="2400" dirty="0"/>
          </a:p>
        </p:txBody>
      </p:sp>
      <p:sp>
        <p:nvSpPr>
          <p:cNvPr id="19" name="Text 17"/>
          <p:cNvSpPr/>
          <p:nvPr/>
        </p:nvSpPr>
        <p:spPr>
          <a:xfrm>
            <a:off x="822960" y="4507992"/>
            <a:ext cx="3090672" cy="713232"/>
          </a:xfrm>
          <a:prstGeom prst="rect">
            <a:avLst/>
          </a:prstGeom>
          <a:noFill/>
          <a:ln/>
        </p:spPr>
        <p:txBody>
          <a:bodyPr wrap="square" lIns="0" tIns="0" rIns="0" bIns="0" rtlCol="0" anchor="ctr"/>
          <a:lstStyle/>
          <a:p>
            <a:pPr marL="0" indent="0">
              <a:buNone/>
            </a:pPr>
            <a:r>
              <a:rPr lang="ko-KR" altLang="en-US" sz="1700" dirty="0">
                <a:solidFill>
                  <a:srgbClr val="5D6C82"/>
                </a:solidFill>
                <a:latin typeface="Noto Sans KR" pitchFamily="34" charset="0"/>
                <a:ea typeface="Noto Sans KR" pitchFamily="34" charset="-122"/>
                <a:cs typeface="Noto Sans KR" pitchFamily="34" charset="-120"/>
              </a:rPr>
              <a:t>정해진 입력과 절차에 따라 실행</a:t>
            </a:r>
            <a:endParaRPr lang="ko-KR" sz="1700" dirty="0"/>
          </a:p>
        </p:txBody>
      </p:sp>
      <p:sp>
        <p:nvSpPr>
          <p:cNvPr id="20" name="Text 18"/>
          <p:cNvSpPr/>
          <p:nvPr/>
        </p:nvSpPr>
        <p:spPr>
          <a:xfrm>
            <a:off x="4572000" y="1956816"/>
            <a:ext cx="3200400" cy="219456"/>
          </a:xfrm>
          <a:prstGeom prst="rect">
            <a:avLst/>
          </a:prstGeom>
          <a:noFill/>
          <a:ln/>
        </p:spPr>
        <p:txBody>
          <a:bodyPr wrap="square" lIns="0" tIns="0" rIns="0" bIns="0" rtlCol="0" anchor="ctr"/>
          <a:lstStyle/>
          <a:p>
            <a:pPr marL="0" indent="0">
              <a:buNone/>
            </a:pPr>
            <a:r>
              <a:rPr lang="ko-KR" altLang="en-US" sz="2000" b="1" kern="0" spc="110" dirty="0">
                <a:solidFill>
                  <a:srgbClr val="245FF2"/>
                </a:solidFill>
                <a:latin typeface="Noto Sans KR" pitchFamily="34" charset="0"/>
                <a:ea typeface="Noto Sans KR" pitchFamily="34" charset="-122"/>
                <a:cs typeface="Noto Sans KR" pitchFamily="34" charset="-120"/>
              </a:rPr>
              <a:t>생성형 AI</a:t>
            </a:r>
            <a:endParaRPr lang="ko-KR" sz="2000" dirty="0"/>
          </a:p>
        </p:txBody>
      </p:sp>
      <p:sp>
        <p:nvSpPr>
          <p:cNvPr id="21" name="Text 19"/>
          <p:cNvSpPr/>
          <p:nvPr/>
        </p:nvSpPr>
        <p:spPr>
          <a:xfrm>
            <a:off x="4572000" y="3904488"/>
            <a:ext cx="3200400" cy="420624"/>
          </a:xfrm>
          <a:prstGeom prst="rect">
            <a:avLst/>
          </a:prstGeom>
          <a:noFill/>
          <a:ln/>
        </p:spPr>
        <p:txBody>
          <a:bodyPr wrap="square" lIns="0" tIns="0" rIns="0" bIns="0" rtlCol="0" anchor="ctr"/>
          <a:lstStyle/>
          <a:p>
            <a:pPr marL="0" indent="0">
              <a:buNone/>
            </a:pPr>
            <a:r>
              <a:rPr lang="ko-KR" altLang="en-US" sz="2400" b="1" dirty="0">
                <a:solidFill>
                  <a:srgbClr val="172A45"/>
                </a:solidFill>
                <a:latin typeface="Noto Sans KR" pitchFamily="34" charset="0"/>
                <a:ea typeface="Noto Sans KR" pitchFamily="34" charset="-122"/>
                <a:cs typeface="Noto Sans KR" pitchFamily="34" charset="-120"/>
              </a:rPr>
              <a:t>정보를 이해하고 생성</a:t>
            </a:r>
            <a:endParaRPr lang="ko-KR" sz="2400" dirty="0"/>
          </a:p>
        </p:txBody>
      </p:sp>
      <p:sp>
        <p:nvSpPr>
          <p:cNvPr id="22" name="Text 20"/>
          <p:cNvSpPr/>
          <p:nvPr/>
        </p:nvSpPr>
        <p:spPr>
          <a:xfrm>
            <a:off x="4572000" y="4507992"/>
            <a:ext cx="3090672" cy="713232"/>
          </a:xfrm>
          <a:prstGeom prst="rect">
            <a:avLst/>
          </a:prstGeom>
          <a:noFill/>
          <a:ln/>
        </p:spPr>
        <p:txBody>
          <a:bodyPr wrap="square" lIns="0" tIns="0" rIns="0" bIns="0" rtlCol="0" anchor="ctr"/>
          <a:lstStyle/>
          <a:p>
            <a:pPr marL="0" indent="0">
              <a:buNone/>
            </a:pPr>
            <a:r>
              <a:rPr lang="ko-KR" altLang="en-US" sz="1700" dirty="0">
                <a:solidFill>
                  <a:srgbClr val="5D6C82"/>
                </a:solidFill>
                <a:latin typeface="Noto Sans KR" pitchFamily="34" charset="0"/>
                <a:ea typeface="Noto Sans KR" pitchFamily="34" charset="-122"/>
                <a:cs typeface="Noto Sans KR" pitchFamily="34" charset="-120"/>
              </a:rPr>
              <a:t>문서·이미지·코드 등 디지털 결과</a:t>
            </a:r>
            <a:endParaRPr lang="ko-KR" sz="1700" dirty="0"/>
          </a:p>
        </p:txBody>
      </p:sp>
      <p:sp>
        <p:nvSpPr>
          <p:cNvPr id="23" name="Text 21"/>
          <p:cNvSpPr/>
          <p:nvPr/>
        </p:nvSpPr>
        <p:spPr>
          <a:xfrm>
            <a:off x="8302752" y="1956816"/>
            <a:ext cx="3200400" cy="219456"/>
          </a:xfrm>
          <a:prstGeom prst="rect">
            <a:avLst/>
          </a:prstGeom>
          <a:noFill/>
          <a:ln/>
        </p:spPr>
        <p:txBody>
          <a:bodyPr wrap="square" lIns="0" tIns="0" rIns="0" bIns="0" rtlCol="0" anchor="ctr"/>
          <a:lstStyle/>
          <a:p>
            <a:pPr marL="0" indent="0">
              <a:buNone/>
            </a:pPr>
            <a:r>
              <a:rPr lang="ko-KR" altLang="en-US" sz="2000" b="1" kern="0" spc="110" dirty="0">
                <a:solidFill>
                  <a:srgbClr val="23B8DA"/>
                </a:solidFill>
                <a:latin typeface="Noto Sans KR" pitchFamily="34" charset="0"/>
                <a:ea typeface="Noto Sans KR" pitchFamily="34" charset="-122"/>
                <a:cs typeface="Noto Sans KR" pitchFamily="34" charset="-120"/>
              </a:rPr>
              <a:t>피지컬 AI</a:t>
            </a:r>
            <a:endParaRPr lang="ko-KR" sz="2000" dirty="0"/>
          </a:p>
        </p:txBody>
      </p:sp>
      <p:sp>
        <p:nvSpPr>
          <p:cNvPr id="24" name="Text 22"/>
          <p:cNvSpPr/>
          <p:nvPr/>
        </p:nvSpPr>
        <p:spPr>
          <a:xfrm>
            <a:off x="8302752" y="3904488"/>
            <a:ext cx="3200400" cy="420624"/>
          </a:xfrm>
          <a:prstGeom prst="rect">
            <a:avLst/>
          </a:prstGeom>
          <a:noFill/>
          <a:ln/>
        </p:spPr>
        <p:txBody>
          <a:bodyPr wrap="square" lIns="0" tIns="0" rIns="0" bIns="0" rtlCol="0" anchor="ctr"/>
          <a:lstStyle/>
          <a:p>
            <a:pPr marL="0" indent="0">
              <a:buNone/>
            </a:pPr>
            <a:r>
              <a:rPr lang="ko-KR" altLang="en-US" sz="2400" b="1" dirty="0">
                <a:solidFill>
                  <a:srgbClr val="172A45"/>
                </a:solidFill>
                <a:latin typeface="Noto Sans KR" pitchFamily="34" charset="0"/>
                <a:ea typeface="Noto Sans KR" pitchFamily="34" charset="-122"/>
                <a:cs typeface="Noto Sans KR" pitchFamily="34" charset="-120"/>
              </a:rPr>
              <a:t>현실을 인식하고 행동</a:t>
            </a:r>
            <a:endParaRPr lang="ko-KR" sz="2400" dirty="0"/>
          </a:p>
        </p:txBody>
      </p:sp>
      <p:sp>
        <p:nvSpPr>
          <p:cNvPr id="25" name="Text 23"/>
          <p:cNvSpPr/>
          <p:nvPr/>
        </p:nvSpPr>
        <p:spPr>
          <a:xfrm>
            <a:off x="8302752" y="4507992"/>
            <a:ext cx="3090672" cy="713232"/>
          </a:xfrm>
          <a:prstGeom prst="rect">
            <a:avLst/>
          </a:prstGeom>
          <a:noFill/>
          <a:ln/>
        </p:spPr>
        <p:txBody>
          <a:bodyPr wrap="square" lIns="0" tIns="0" rIns="0" bIns="0" rtlCol="0" anchor="ctr"/>
          <a:lstStyle/>
          <a:p>
            <a:pPr marL="0" indent="0">
              <a:buNone/>
            </a:pPr>
            <a:r>
              <a:rPr lang="ko-KR" altLang="en-US" sz="1700" dirty="0">
                <a:solidFill>
                  <a:srgbClr val="5D6C82"/>
                </a:solidFill>
                <a:latin typeface="Noto Sans KR" pitchFamily="34" charset="0"/>
                <a:ea typeface="Noto Sans KR" pitchFamily="34" charset="-122"/>
                <a:cs typeface="Noto Sans KR" pitchFamily="34" charset="-120"/>
              </a:rPr>
              <a:t>환경을 파악해 물리적 동작 수행</a:t>
            </a:r>
            <a:endParaRPr lang="ko-KR" sz="1700" dirty="0"/>
          </a:p>
        </p:txBody>
      </p:sp>
      <p:sp>
        <p:nvSpPr>
          <p:cNvPr id="26" name="Shape 24"/>
          <p:cNvSpPr/>
          <p:nvPr/>
        </p:nvSpPr>
        <p:spPr>
          <a:xfrm>
            <a:off x="758952" y="5605272"/>
            <a:ext cx="10671048" cy="576072"/>
          </a:xfrm>
          <a:prstGeom prst="rect">
            <a:avLst/>
          </a:prstGeom>
          <a:solidFill>
            <a:srgbClr val="F3F6FB"/>
          </a:solidFill>
          <a:ln w="12700">
            <a:solidFill>
              <a:srgbClr val="F3F6FB"/>
            </a:solidFill>
            <a:prstDash val="solid"/>
          </a:ln>
        </p:spPr>
      </p:sp>
      <p:sp>
        <p:nvSpPr>
          <p:cNvPr id="27" name="Text 25"/>
          <p:cNvSpPr/>
          <p:nvPr/>
        </p:nvSpPr>
        <p:spPr>
          <a:xfrm>
            <a:off x="758952" y="5696712"/>
            <a:ext cx="10671048" cy="438912"/>
          </a:xfrm>
          <a:prstGeom prst="rect">
            <a:avLst/>
          </a:prstGeom>
          <a:noFill/>
          <a:ln/>
        </p:spPr>
        <p:txBody>
          <a:bodyPr wrap="square" lIns="0" tIns="0" rIns="0" bIns="0" rtlCol="0" anchor="ctr"/>
          <a:lstStyle/>
          <a:p>
            <a:pPr marL="0" indent="0" algn="ctr">
              <a:buNone/>
            </a:pPr>
            <a:r>
              <a:rPr lang="ko-KR" altLang="en-US" sz="2200" b="1" dirty="0">
                <a:solidFill>
                  <a:srgbClr val="172A45"/>
                </a:solidFill>
                <a:latin typeface="Noto Sans KR" pitchFamily="34" charset="0"/>
                <a:ea typeface="Noto Sans KR" pitchFamily="34" charset="-122"/>
                <a:cs typeface="Noto Sans KR" pitchFamily="34" charset="-120"/>
              </a:rPr>
              <a:t>다음 AI 전환의 무대는 디지털 업무를 넘어 물리적 작업으로 넓어지고 있습니다</a:t>
            </a:r>
            <a:endParaRPr lang="ko-K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정해진 동작에서, 상황을 반영하는 동작으로</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기존 자동화의 규칙 기반 흐름과 피지컬 AI의 피드백 흐름</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03</a:t>
            </a:r>
            <a:endParaRPr lang="ko-KR" sz="1000" dirty="0"/>
          </a:p>
        </p:txBody>
      </p:sp>
      <p:sp>
        <p:nvSpPr>
          <p:cNvPr id="8" name="Shape 6"/>
          <p:cNvSpPr/>
          <p:nvPr/>
        </p:nvSpPr>
        <p:spPr>
          <a:xfrm>
            <a:off x="758952" y="1783080"/>
            <a:ext cx="4736592" cy="3621024"/>
          </a:xfrm>
          <a:prstGeom prst="rect">
            <a:avLst/>
          </a:prstGeom>
          <a:solidFill>
            <a:srgbClr val="F3F6FB"/>
          </a:solidFill>
          <a:ln w="12700">
            <a:solidFill>
              <a:srgbClr val="F3F6FB"/>
            </a:solidFill>
            <a:prstDash val="solid"/>
          </a:ln>
        </p:spPr>
      </p:sp>
      <p:sp>
        <p:nvSpPr>
          <p:cNvPr id="9" name="Shape 7"/>
          <p:cNvSpPr/>
          <p:nvPr/>
        </p:nvSpPr>
        <p:spPr>
          <a:xfrm>
            <a:off x="5715000" y="1783080"/>
            <a:ext cx="5715000" cy="3621024"/>
          </a:xfrm>
          <a:prstGeom prst="rect">
            <a:avLst/>
          </a:prstGeom>
          <a:solidFill>
            <a:srgbClr val="101F39"/>
          </a:solidFill>
          <a:ln w="12700">
            <a:solidFill>
              <a:srgbClr val="101F39"/>
            </a:solidFill>
            <a:prstDash val="solid"/>
          </a:ln>
        </p:spPr>
      </p:sp>
      <p:sp>
        <p:nvSpPr>
          <p:cNvPr id="10" name="Text 8"/>
          <p:cNvSpPr/>
          <p:nvPr/>
        </p:nvSpPr>
        <p:spPr>
          <a:xfrm>
            <a:off x="1033272" y="2020824"/>
            <a:ext cx="3657600" cy="219456"/>
          </a:xfrm>
          <a:prstGeom prst="rect">
            <a:avLst/>
          </a:prstGeom>
          <a:noFill/>
          <a:ln/>
        </p:spPr>
        <p:txBody>
          <a:bodyPr wrap="square" lIns="0" tIns="0" rIns="0" bIns="0" rtlCol="0" anchor="ctr"/>
          <a:lstStyle/>
          <a:p>
            <a:pPr marL="0" indent="0">
              <a:buNone/>
            </a:pPr>
            <a:r>
              <a:rPr lang="ko-KR" altLang="en-US" sz="1100" b="1" kern="0" spc="110" dirty="0">
                <a:solidFill>
                  <a:srgbClr val="5D6C82"/>
                </a:solidFill>
                <a:latin typeface="Noto Sans KR" pitchFamily="34" charset="0"/>
                <a:ea typeface="Noto Sans KR" pitchFamily="34" charset="-122"/>
                <a:cs typeface="Noto Sans KR" pitchFamily="34" charset="-120"/>
              </a:rPr>
              <a:t>기존 자동화</a:t>
            </a:r>
            <a:endParaRPr lang="ko-KR" sz="1100" dirty="0"/>
          </a:p>
        </p:txBody>
      </p:sp>
      <p:sp>
        <p:nvSpPr>
          <p:cNvPr id="11" name="Text 9"/>
          <p:cNvSpPr/>
          <p:nvPr/>
        </p:nvSpPr>
        <p:spPr>
          <a:xfrm>
            <a:off x="6035040" y="2020824"/>
            <a:ext cx="3657600" cy="219456"/>
          </a:xfrm>
          <a:prstGeom prst="rect">
            <a:avLst/>
          </a:prstGeom>
          <a:noFill/>
          <a:ln/>
        </p:spPr>
        <p:txBody>
          <a:bodyPr wrap="square" lIns="0" tIns="0" rIns="0" bIns="0" rtlCol="0" anchor="ctr"/>
          <a:lstStyle/>
          <a:p>
            <a:pPr marL="0" indent="0">
              <a:buNone/>
            </a:pPr>
            <a:r>
              <a:rPr lang="ko-KR" altLang="en-US" sz="1100" b="1" kern="0" spc="110" dirty="0">
                <a:solidFill>
                  <a:srgbClr val="23B8DA"/>
                </a:solidFill>
                <a:latin typeface="Noto Sans KR" pitchFamily="34" charset="0"/>
                <a:ea typeface="Noto Sans KR" pitchFamily="34" charset="-122"/>
                <a:cs typeface="Noto Sans KR" pitchFamily="34" charset="-120"/>
              </a:rPr>
              <a:t>PHYSICAL AI</a:t>
            </a:r>
            <a:endParaRPr lang="ko-KR" sz="1100" dirty="0"/>
          </a:p>
        </p:txBody>
      </p:sp>
      <p:sp>
        <p:nvSpPr>
          <p:cNvPr id="12" name="Shape 10"/>
          <p:cNvSpPr/>
          <p:nvPr/>
        </p:nvSpPr>
        <p:spPr>
          <a:xfrm>
            <a:off x="1078992" y="2596896"/>
            <a:ext cx="91440" cy="91440"/>
          </a:xfrm>
          <a:prstGeom prst="ellipse">
            <a:avLst/>
          </a:prstGeom>
          <a:solidFill>
            <a:srgbClr val="5D6C82"/>
          </a:solidFill>
          <a:ln w="12700">
            <a:solidFill>
              <a:srgbClr val="5D6C82"/>
            </a:solidFill>
            <a:prstDash val="solid"/>
          </a:ln>
        </p:spPr>
      </p:sp>
      <p:sp>
        <p:nvSpPr>
          <p:cNvPr id="13" name="Text 11"/>
          <p:cNvSpPr/>
          <p:nvPr/>
        </p:nvSpPr>
        <p:spPr>
          <a:xfrm>
            <a:off x="1389888" y="2487168"/>
            <a:ext cx="3566160" cy="320040"/>
          </a:xfrm>
          <a:prstGeom prst="rect">
            <a:avLst/>
          </a:prstGeom>
          <a:noFill/>
          <a:ln/>
        </p:spPr>
        <p:txBody>
          <a:bodyPr wrap="square" lIns="0" tIns="0" rIns="0" bIns="0" rtlCol="0" anchor="ctr"/>
          <a:lstStyle/>
          <a:p>
            <a:pPr marL="0" indent="0">
              <a:buNone/>
            </a:pPr>
            <a:r>
              <a:rPr lang="ko-KR" altLang="en-US" sz="1800" dirty="0">
                <a:solidFill>
                  <a:srgbClr val="172A45"/>
                </a:solidFill>
                <a:latin typeface="Noto Sans KR" pitchFamily="34" charset="0"/>
                <a:ea typeface="Noto Sans KR" pitchFamily="34" charset="-122"/>
                <a:cs typeface="Noto Sans KR" pitchFamily="34" charset="-120"/>
              </a:rPr>
              <a:t>고정된 환경</a:t>
            </a:r>
            <a:endParaRPr lang="ko-KR" sz="1800" dirty="0"/>
          </a:p>
        </p:txBody>
      </p:sp>
      <p:sp>
        <p:nvSpPr>
          <p:cNvPr id="14" name="Shape 12"/>
          <p:cNvSpPr/>
          <p:nvPr/>
        </p:nvSpPr>
        <p:spPr>
          <a:xfrm>
            <a:off x="1124712" y="2734056"/>
            <a:ext cx="0" cy="237744"/>
          </a:xfrm>
          <a:prstGeom prst="line">
            <a:avLst/>
          </a:prstGeom>
          <a:noFill/>
          <a:ln w="13970">
            <a:solidFill>
              <a:srgbClr val="D9E2ED"/>
            </a:solidFill>
            <a:prstDash val="solid"/>
            <a:headEnd type="none"/>
            <a:tailEnd type="triangle"/>
          </a:ln>
        </p:spPr>
      </p:sp>
      <p:sp>
        <p:nvSpPr>
          <p:cNvPr id="15" name="Shape 13"/>
          <p:cNvSpPr/>
          <p:nvPr/>
        </p:nvSpPr>
        <p:spPr>
          <a:xfrm>
            <a:off x="1078992" y="3081528"/>
            <a:ext cx="91440" cy="91440"/>
          </a:xfrm>
          <a:prstGeom prst="ellipse">
            <a:avLst/>
          </a:prstGeom>
          <a:solidFill>
            <a:srgbClr val="5D6C82"/>
          </a:solidFill>
          <a:ln w="12700">
            <a:solidFill>
              <a:srgbClr val="5D6C82"/>
            </a:solidFill>
            <a:prstDash val="solid"/>
          </a:ln>
        </p:spPr>
      </p:sp>
      <p:sp>
        <p:nvSpPr>
          <p:cNvPr id="16" name="Text 14"/>
          <p:cNvSpPr/>
          <p:nvPr/>
        </p:nvSpPr>
        <p:spPr>
          <a:xfrm>
            <a:off x="1389888" y="2971800"/>
            <a:ext cx="3566160" cy="320040"/>
          </a:xfrm>
          <a:prstGeom prst="rect">
            <a:avLst/>
          </a:prstGeom>
          <a:noFill/>
          <a:ln/>
        </p:spPr>
        <p:txBody>
          <a:bodyPr wrap="square" lIns="0" tIns="0" rIns="0" bIns="0" rtlCol="0" anchor="ctr"/>
          <a:lstStyle/>
          <a:p>
            <a:pPr marL="0" indent="0">
              <a:buNone/>
            </a:pPr>
            <a:r>
              <a:rPr lang="ko-KR" altLang="en-US" sz="1800" dirty="0">
                <a:solidFill>
                  <a:srgbClr val="172A45"/>
                </a:solidFill>
                <a:latin typeface="Noto Sans KR" pitchFamily="34" charset="0"/>
                <a:ea typeface="Noto Sans KR" pitchFamily="34" charset="-122"/>
                <a:cs typeface="Noto Sans KR" pitchFamily="34" charset="-120"/>
              </a:rPr>
              <a:t>미리 정한 규칙</a:t>
            </a:r>
            <a:endParaRPr lang="ko-KR" sz="1800" dirty="0"/>
          </a:p>
        </p:txBody>
      </p:sp>
      <p:sp>
        <p:nvSpPr>
          <p:cNvPr id="17" name="Shape 15"/>
          <p:cNvSpPr/>
          <p:nvPr/>
        </p:nvSpPr>
        <p:spPr>
          <a:xfrm>
            <a:off x="1124712" y="3218688"/>
            <a:ext cx="0" cy="237744"/>
          </a:xfrm>
          <a:prstGeom prst="line">
            <a:avLst/>
          </a:prstGeom>
          <a:noFill/>
          <a:ln w="13970">
            <a:solidFill>
              <a:srgbClr val="D9E2ED"/>
            </a:solidFill>
            <a:prstDash val="solid"/>
            <a:headEnd type="none"/>
            <a:tailEnd type="triangle"/>
          </a:ln>
        </p:spPr>
      </p:sp>
      <p:sp>
        <p:nvSpPr>
          <p:cNvPr id="18" name="Shape 16"/>
          <p:cNvSpPr/>
          <p:nvPr/>
        </p:nvSpPr>
        <p:spPr>
          <a:xfrm>
            <a:off x="1078992" y="3566160"/>
            <a:ext cx="91440" cy="91440"/>
          </a:xfrm>
          <a:prstGeom prst="ellipse">
            <a:avLst/>
          </a:prstGeom>
          <a:solidFill>
            <a:srgbClr val="5D6C82"/>
          </a:solidFill>
          <a:ln w="12700">
            <a:solidFill>
              <a:srgbClr val="5D6C82"/>
            </a:solidFill>
            <a:prstDash val="solid"/>
          </a:ln>
        </p:spPr>
      </p:sp>
      <p:sp>
        <p:nvSpPr>
          <p:cNvPr id="19" name="Text 17"/>
          <p:cNvSpPr/>
          <p:nvPr/>
        </p:nvSpPr>
        <p:spPr>
          <a:xfrm>
            <a:off x="1389888" y="3456432"/>
            <a:ext cx="3566160" cy="320040"/>
          </a:xfrm>
          <a:prstGeom prst="rect">
            <a:avLst/>
          </a:prstGeom>
          <a:noFill/>
          <a:ln/>
        </p:spPr>
        <p:txBody>
          <a:bodyPr wrap="square" lIns="0" tIns="0" rIns="0" bIns="0" rtlCol="0" anchor="ctr"/>
          <a:lstStyle/>
          <a:p>
            <a:pPr marL="0" indent="0">
              <a:buNone/>
            </a:pPr>
            <a:r>
              <a:rPr lang="ko-KR" altLang="en-US" sz="1800" dirty="0">
                <a:solidFill>
                  <a:srgbClr val="172A45"/>
                </a:solidFill>
                <a:latin typeface="Noto Sans KR" pitchFamily="34" charset="0"/>
                <a:ea typeface="Noto Sans KR" pitchFamily="34" charset="-122"/>
                <a:cs typeface="Noto Sans KR" pitchFamily="34" charset="-120"/>
              </a:rPr>
              <a:t>미리 정한 행동</a:t>
            </a:r>
            <a:endParaRPr lang="ko-KR" sz="1800" dirty="0"/>
          </a:p>
        </p:txBody>
      </p:sp>
      <p:sp>
        <p:nvSpPr>
          <p:cNvPr id="20" name="Shape 18"/>
          <p:cNvSpPr/>
          <p:nvPr/>
        </p:nvSpPr>
        <p:spPr>
          <a:xfrm>
            <a:off x="1124712" y="3703320"/>
            <a:ext cx="0" cy="237744"/>
          </a:xfrm>
          <a:prstGeom prst="line">
            <a:avLst/>
          </a:prstGeom>
          <a:noFill/>
          <a:ln w="13970">
            <a:solidFill>
              <a:srgbClr val="D9E2ED"/>
            </a:solidFill>
            <a:prstDash val="solid"/>
            <a:headEnd type="none"/>
            <a:tailEnd type="triangle"/>
          </a:ln>
        </p:spPr>
      </p:sp>
      <p:sp>
        <p:nvSpPr>
          <p:cNvPr id="21" name="Shape 19"/>
          <p:cNvSpPr/>
          <p:nvPr/>
        </p:nvSpPr>
        <p:spPr>
          <a:xfrm>
            <a:off x="1078992" y="4050792"/>
            <a:ext cx="91440" cy="91440"/>
          </a:xfrm>
          <a:prstGeom prst="ellipse">
            <a:avLst/>
          </a:prstGeom>
          <a:solidFill>
            <a:srgbClr val="245FF2"/>
          </a:solidFill>
          <a:ln w="12700">
            <a:solidFill>
              <a:srgbClr val="245FF2"/>
            </a:solidFill>
            <a:prstDash val="solid"/>
          </a:ln>
        </p:spPr>
      </p:sp>
      <p:sp>
        <p:nvSpPr>
          <p:cNvPr id="22" name="Text 20"/>
          <p:cNvSpPr/>
          <p:nvPr/>
        </p:nvSpPr>
        <p:spPr>
          <a:xfrm>
            <a:off x="1389888" y="3941064"/>
            <a:ext cx="3566160" cy="320040"/>
          </a:xfrm>
          <a:prstGeom prst="rect">
            <a:avLst/>
          </a:prstGeom>
          <a:noFill/>
          <a:ln/>
        </p:spPr>
        <p:txBody>
          <a:bodyPr wrap="square" lIns="0" tIns="0" rIns="0" bIns="0" rtlCol="0" anchor="ctr"/>
          <a:lstStyle/>
          <a:p>
            <a:pPr marL="0" indent="0">
              <a:buNone/>
            </a:pPr>
            <a:r>
              <a:rPr lang="ko-KR" altLang="en-US" sz="1800" b="1" dirty="0">
                <a:solidFill>
                  <a:srgbClr val="245FF2"/>
                </a:solidFill>
                <a:latin typeface="Noto Sans KR" pitchFamily="34" charset="0"/>
                <a:ea typeface="Noto Sans KR" pitchFamily="34" charset="-122"/>
                <a:cs typeface="Noto Sans KR" pitchFamily="34" charset="-120"/>
              </a:rPr>
              <a:t>예상 밖의 상황</a:t>
            </a:r>
            <a:endParaRPr lang="ko-KR" sz="1800" dirty="0"/>
          </a:p>
        </p:txBody>
      </p:sp>
      <p:sp>
        <p:nvSpPr>
          <p:cNvPr id="23" name="Shape 21"/>
          <p:cNvSpPr/>
          <p:nvPr/>
        </p:nvSpPr>
        <p:spPr>
          <a:xfrm>
            <a:off x="1124712" y="4187952"/>
            <a:ext cx="0" cy="237744"/>
          </a:xfrm>
          <a:prstGeom prst="line">
            <a:avLst/>
          </a:prstGeom>
          <a:noFill/>
          <a:ln w="13970">
            <a:solidFill>
              <a:srgbClr val="D9E2ED"/>
            </a:solidFill>
            <a:prstDash val="solid"/>
            <a:headEnd type="none"/>
            <a:tailEnd type="triangle"/>
          </a:ln>
        </p:spPr>
      </p:sp>
      <p:sp>
        <p:nvSpPr>
          <p:cNvPr id="24" name="Shape 22"/>
          <p:cNvSpPr/>
          <p:nvPr/>
        </p:nvSpPr>
        <p:spPr>
          <a:xfrm>
            <a:off x="1078992" y="4535424"/>
            <a:ext cx="91440" cy="91440"/>
          </a:xfrm>
          <a:prstGeom prst="ellipse">
            <a:avLst/>
          </a:prstGeom>
          <a:solidFill>
            <a:srgbClr val="245FF2"/>
          </a:solidFill>
          <a:ln w="12700">
            <a:solidFill>
              <a:srgbClr val="245FF2"/>
            </a:solidFill>
            <a:prstDash val="solid"/>
          </a:ln>
        </p:spPr>
      </p:sp>
      <p:sp>
        <p:nvSpPr>
          <p:cNvPr id="25" name="Text 23"/>
          <p:cNvSpPr/>
          <p:nvPr/>
        </p:nvSpPr>
        <p:spPr>
          <a:xfrm>
            <a:off x="1389888" y="4425696"/>
            <a:ext cx="3566160" cy="320040"/>
          </a:xfrm>
          <a:prstGeom prst="rect">
            <a:avLst/>
          </a:prstGeom>
          <a:noFill/>
          <a:ln/>
        </p:spPr>
        <p:txBody>
          <a:bodyPr wrap="square" lIns="0" tIns="0" rIns="0" bIns="0" rtlCol="0" anchor="ctr"/>
          <a:lstStyle/>
          <a:p>
            <a:pPr marL="0" indent="0">
              <a:buNone/>
            </a:pPr>
            <a:r>
              <a:rPr lang="ko-KR" altLang="en-US" sz="1800" b="1" dirty="0">
                <a:solidFill>
                  <a:srgbClr val="245FF2"/>
                </a:solidFill>
                <a:latin typeface="Noto Sans KR" pitchFamily="34" charset="0"/>
                <a:ea typeface="Noto Sans KR" pitchFamily="34" charset="-122"/>
                <a:cs typeface="Noto Sans KR" pitchFamily="34" charset="-120"/>
              </a:rPr>
              <a:t>사람의 개입</a:t>
            </a:r>
            <a:endParaRPr lang="ko-KR" sz="1800" dirty="0"/>
          </a:p>
        </p:txBody>
      </p:sp>
      <p:sp>
        <p:nvSpPr>
          <p:cNvPr id="26" name="Text 24"/>
          <p:cNvSpPr/>
          <p:nvPr/>
        </p:nvSpPr>
        <p:spPr>
          <a:xfrm>
            <a:off x="6044184" y="2478024"/>
            <a:ext cx="411480" cy="310896"/>
          </a:xfrm>
          <a:prstGeom prst="rect">
            <a:avLst/>
          </a:prstGeom>
          <a:noFill/>
          <a:ln/>
        </p:spPr>
        <p:txBody>
          <a:bodyPr wrap="square" lIns="0" tIns="0" rIns="0" bIns="0" rtlCol="0" anchor="ctr"/>
          <a:lstStyle/>
          <a:p>
            <a:pPr marL="0" indent="0">
              <a:buNone/>
            </a:pPr>
            <a:r>
              <a:rPr lang="ko-KR" altLang="en-US" sz="1200" b="1" dirty="0">
                <a:solidFill>
                  <a:srgbClr val="23B8DA"/>
                </a:solidFill>
                <a:latin typeface="Noto Sans KR" pitchFamily="34" charset="0"/>
                <a:ea typeface="Noto Sans KR" pitchFamily="34" charset="-122"/>
                <a:cs typeface="Noto Sans KR" pitchFamily="34" charset="-120"/>
              </a:rPr>
              <a:t>01</a:t>
            </a:r>
            <a:endParaRPr lang="ko-KR" sz="1200" dirty="0"/>
          </a:p>
        </p:txBody>
      </p:sp>
      <p:sp>
        <p:nvSpPr>
          <p:cNvPr id="27" name="Text 25"/>
          <p:cNvSpPr/>
          <p:nvPr/>
        </p:nvSpPr>
        <p:spPr>
          <a:xfrm>
            <a:off x="6601968" y="2478024"/>
            <a:ext cx="978408" cy="310896"/>
          </a:xfrm>
          <a:prstGeom prst="rect">
            <a:avLst/>
          </a:prstGeom>
          <a:noFill/>
          <a:ln/>
        </p:spPr>
        <p:txBody>
          <a:bodyPr wrap="square" lIns="0" tIns="0" rIns="0" bIns="0" rtlCol="0" anchor="ctr"/>
          <a:lstStyle/>
          <a:p>
            <a:pPr marL="0" indent="0">
              <a:buNone/>
            </a:pPr>
            <a:r>
              <a:rPr lang="ko-KR" altLang="en-US" sz="1900" b="1" dirty="0">
                <a:solidFill>
                  <a:srgbClr val="FFFFFF"/>
                </a:solidFill>
                <a:latin typeface="Noto Sans KR" pitchFamily="34" charset="0"/>
                <a:ea typeface="Noto Sans KR" pitchFamily="34" charset="-122"/>
                <a:cs typeface="Noto Sans KR" pitchFamily="34" charset="-120"/>
              </a:rPr>
              <a:t>인식</a:t>
            </a:r>
            <a:endParaRPr lang="ko-KR" sz="1900" dirty="0"/>
          </a:p>
        </p:txBody>
      </p:sp>
      <p:sp>
        <p:nvSpPr>
          <p:cNvPr id="28" name="Text 26"/>
          <p:cNvSpPr/>
          <p:nvPr/>
        </p:nvSpPr>
        <p:spPr>
          <a:xfrm>
            <a:off x="7882128" y="2478024"/>
            <a:ext cx="2770632" cy="310896"/>
          </a:xfrm>
          <a:prstGeom prst="rect">
            <a:avLst/>
          </a:prstGeom>
          <a:noFill/>
          <a:ln/>
        </p:spPr>
        <p:txBody>
          <a:bodyPr wrap="square" lIns="0" tIns="0" rIns="0" bIns="0" rtlCol="0" anchor="ctr"/>
          <a:lstStyle/>
          <a:p>
            <a:pPr marL="0" indent="0">
              <a:buNone/>
            </a:pPr>
            <a:r>
              <a:rPr lang="ko-KR" altLang="en-US" sz="1600" dirty="0">
                <a:solidFill>
                  <a:srgbClr val="B9C7D9"/>
                </a:solidFill>
                <a:latin typeface="Noto Sans KR" pitchFamily="34" charset="0"/>
                <a:ea typeface="Noto Sans KR" pitchFamily="34" charset="-122"/>
                <a:cs typeface="Noto Sans KR" pitchFamily="34" charset="-120"/>
              </a:rPr>
              <a:t>환경과 대상 확인</a:t>
            </a:r>
            <a:endParaRPr lang="ko-KR" sz="1600" dirty="0"/>
          </a:p>
        </p:txBody>
      </p:sp>
      <p:sp>
        <p:nvSpPr>
          <p:cNvPr id="29" name="Shape 27"/>
          <p:cNvSpPr/>
          <p:nvPr/>
        </p:nvSpPr>
        <p:spPr>
          <a:xfrm>
            <a:off x="6629400" y="2889504"/>
            <a:ext cx="3995928" cy="0"/>
          </a:xfrm>
          <a:prstGeom prst="line">
            <a:avLst/>
          </a:prstGeom>
          <a:noFill/>
          <a:ln w="7620">
            <a:solidFill>
              <a:srgbClr val="30425D"/>
            </a:solidFill>
            <a:prstDash val="solid"/>
          </a:ln>
        </p:spPr>
      </p:sp>
      <p:sp>
        <p:nvSpPr>
          <p:cNvPr id="30" name="Text 28"/>
          <p:cNvSpPr/>
          <p:nvPr/>
        </p:nvSpPr>
        <p:spPr>
          <a:xfrm>
            <a:off x="6044184" y="2962656"/>
            <a:ext cx="411480" cy="310896"/>
          </a:xfrm>
          <a:prstGeom prst="rect">
            <a:avLst/>
          </a:prstGeom>
          <a:noFill/>
          <a:ln/>
        </p:spPr>
        <p:txBody>
          <a:bodyPr wrap="square" lIns="0" tIns="0" rIns="0" bIns="0" rtlCol="0" anchor="ctr"/>
          <a:lstStyle/>
          <a:p>
            <a:pPr marL="0" indent="0">
              <a:buNone/>
            </a:pPr>
            <a:r>
              <a:rPr lang="ko-KR" altLang="en-US" sz="1200" b="1" dirty="0">
                <a:solidFill>
                  <a:srgbClr val="23B8DA"/>
                </a:solidFill>
                <a:latin typeface="Noto Sans KR" pitchFamily="34" charset="0"/>
                <a:ea typeface="Noto Sans KR" pitchFamily="34" charset="-122"/>
                <a:cs typeface="Noto Sans KR" pitchFamily="34" charset="-120"/>
              </a:rPr>
              <a:t>02</a:t>
            </a:r>
            <a:endParaRPr lang="ko-KR" sz="1200" dirty="0"/>
          </a:p>
        </p:txBody>
      </p:sp>
      <p:sp>
        <p:nvSpPr>
          <p:cNvPr id="31" name="Text 29"/>
          <p:cNvSpPr/>
          <p:nvPr/>
        </p:nvSpPr>
        <p:spPr>
          <a:xfrm>
            <a:off x="6601968" y="2962656"/>
            <a:ext cx="978408" cy="310896"/>
          </a:xfrm>
          <a:prstGeom prst="rect">
            <a:avLst/>
          </a:prstGeom>
          <a:noFill/>
          <a:ln/>
        </p:spPr>
        <p:txBody>
          <a:bodyPr wrap="square" lIns="0" tIns="0" rIns="0" bIns="0" rtlCol="0" anchor="ctr"/>
          <a:lstStyle/>
          <a:p>
            <a:pPr marL="0" indent="0">
              <a:buNone/>
            </a:pPr>
            <a:r>
              <a:rPr lang="ko-KR" altLang="en-US" sz="1900" b="1" dirty="0">
                <a:solidFill>
                  <a:srgbClr val="FFFFFF"/>
                </a:solidFill>
                <a:latin typeface="Noto Sans KR" pitchFamily="34" charset="0"/>
                <a:ea typeface="Noto Sans KR" pitchFamily="34" charset="-122"/>
                <a:cs typeface="Noto Sans KR" pitchFamily="34" charset="-120"/>
              </a:rPr>
              <a:t>이해</a:t>
            </a:r>
            <a:endParaRPr lang="ko-KR" sz="1900" dirty="0"/>
          </a:p>
        </p:txBody>
      </p:sp>
      <p:sp>
        <p:nvSpPr>
          <p:cNvPr id="32" name="Text 30"/>
          <p:cNvSpPr/>
          <p:nvPr/>
        </p:nvSpPr>
        <p:spPr>
          <a:xfrm>
            <a:off x="7882128" y="2962656"/>
            <a:ext cx="2770632" cy="310896"/>
          </a:xfrm>
          <a:prstGeom prst="rect">
            <a:avLst/>
          </a:prstGeom>
          <a:noFill/>
          <a:ln/>
        </p:spPr>
        <p:txBody>
          <a:bodyPr wrap="square" lIns="0" tIns="0" rIns="0" bIns="0" rtlCol="0" anchor="ctr"/>
          <a:lstStyle/>
          <a:p>
            <a:pPr marL="0" indent="0">
              <a:buNone/>
            </a:pPr>
            <a:r>
              <a:rPr lang="ko-KR" altLang="en-US" sz="1600" dirty="0">
                <a:solidFill>
                  <a:srgbClr val="B9C7D9"/>
                </a:solidFill>
                <a:latin typeface="Noto Sans KR" pitchFamily="34" charset="0"/>
                <a:ea typeface="Noto Sans KR" pitchFamily="34" charset="-122"/>
                <a:cs typeface="Noto Sans KR" pitchFamily="34" charset="-120"/>
              </a:rPr>
              <a:t>상황과 명령 해석</a:t>
            </a:r>
            <a:endParaRPr lang="ko-KR" sz="1600" dirty="0"/>
          </a:p>
        </p:txBody>
      </p:sp>
      <p:sp>
        <p:nvSpPr>
          <p:cNvPr id="33" name="Shape 31"/>
          <p:cNvSpPr/>
          <p:nvPr/>
        </p:nvSpPr>
        <p:spPr>
          <a:xfrm>
            <a:off x="6629400" y="3374136"/>
            <a:ext cx="3995928" cy="0"/>
          </a:xfrm>
          <a:prstGeom prst="line">
            <a:avLst/>
          </a:prstGeom>
          <a:noFill/>
          <a:ln w="7620">
            <a:solidFill>
              <a:srgbClr val="30425D"/>
            </a:solidFill>
            <a:prstDash val="solid"/>
          </a:ln>
        </p:spPr>
      </p:sp>
      <p:sp>
        <p:nvSpPr>
          <p:cNvPr id="34" name="Text 32"/>
          <p:cNvSpPr/>
          <p:nvPr/>
        </p:nvSpPr>
        <p:spPr>
          <a:xfrm>
            <a:off x="6044184" y="3447288"/>
            <a:ext cx="411480" cy="310896"/>
          </a:xfrm>
          <a:prstGeom prst="rect">
            <a:avLst/>
          </a:prstGeom>
          <a:noFill/>
          <a:ln/>
        </p:spPr>
        <p:txBody>
          <a:bodyPr wrap="square" lIns="0" tIns="0" rIns="0" bIns="0" rtlCol="0" anchor="ctr"/>
          <a:lstStyle/>
          <a:p>
            <a:pPr marL="0" indent="0">
              <a:buNone/>
            </a:pPr>
            <a:r>
              <a:rPr lang="ko-KR" altLang="en-US" sz="1200" b="1" dirty="0">
                <a:solidFill>
                  <a:srgbClr val="23B8DA"/>
                </a:solidFill>
                <a:latin typeface="Noto Sans KR" pitchFamily="34" charset="0"/>
                <a:ea typeface="Noto Sans KR" pitchFamily="34" charset="-122"/>
                <a:cs typeface="Noto Sans KR" pitchFamily="34" charset="-120"/>
              </a:rPr>
              <a:t>03</a:t>
            </a:r>
            <a:endParaRPr lang="ko-KR" sz="1200" dirty="0"/>
          </a:p>
        </p:txBody>
      </p:sp>
      <p:sp>
        <p:nvSpPr>
          <p:cNvPr id="35" name="Text 33"/>
          <p:cNvSpPr/>
          <p:nvPr/>
        </p:nvSpPr>
        <p:spPr>
          <a:xfrm>
            <a:off x="6601968" y="3447288"/>
            <a:ext cx="978408" cy="310896"/>
          </a:xfrm>
          <a:prstGeom prst="rect">
            <a:avLst/>
          </a:prstGeom>
          <a:noFill/>
          <a:ln/>
        </p:spPr>
        <p:txBody>
          <a:bodyPr wrap="square" lIns="0" tIns="0" rIns="0" bIns="0" rtlCol="0" anchor="ctr"/>
          <a:lstStyle/>
          <a:p>
            <a:pPr marL="0" indent="0">
              <a:buNone/>
            </a:pPr>
            <a:r>
              <a:rPr lang="ko-KR" altLang="en-US" sz="1900" b="1" dirty="0">
                <a:solidFill>
                  <a:srgbClr val="FFFFFF"/>
                </a:solidFill>
                <a:latin typeface="Noto Sans KR" pitchFamily="34" charset="0"/>
                <a:ea typeface="Noto Sans KR" pitchFamily="34" charset="-122"/>
                <a:cs typeface="Noto Sans KR" pitchFamily="34" charset="-120"/>
              </a:rPr>
              <a:t>판단</a:t>
            </a:r>
            <a:endParaRPr lang="ko-KR" sz="1900" dirty="0"/>
          </a:p>
        </p:txBody>
      </p:sp>
      <p:sp>
        <p:nvSpPr>
          <p:cNvPr id="36" name="Text 34"/>
          <p:cNvSpPr/>
          <p:nvPr/>
        </p:nvSpPr>
        <p:spPr>
          <a:xfrm>
            <a:off x="7882128" y="3447288"/>
            <a:ext cx="2770632" cy="310896"/>
          </a:xfrm>
          <a:prstGeom prst="rect">
            <a:avLst/>
          </a:prstGeom>
          <a:noFill/>
          <a:ln/>
        </p:spPr>
        <p:txBody>
          <a:bodyPr wrap="square" lIns="0" tIns="0" rIns="0" bIns="0" rtlCol="0" anchor="ctr"/>
          <a:lstStyle/>
          <a:p>
            <a:pPr marL="0" indent="0">
              <a:buNone/>
            </a:pPr>
            <a:r>
              <a:rPr lang="ko-KR" altLang="en-US" sz="1600" dirty="0">
                <a:solidFill>
                  <a:srgbClr val="B9C7D9"/>
                </a:solidFill>
                <a:latin typeface="Noto Sans KR" pitchFamily="34" charset="0"/>
                <a:ea typeface="Noto Sans KR" pitchFamily="34" charset="-122"/>
                <a:cs typeface="Noto Sans KR" pitchFamily="34" charset="-120"/>
              </a:rPr>
              <a:t>할 일과 순서 선택</a:t>
            </a:r>
            <a:endParaRPr lang="ko-KR" sz="1600" dirty="0"/>
          </a:p>
        </p:txBody>
      </p:sp>
      <p:sp>
        <p:nvSpPr>
          <p:cNvPr id="37" name="Shape 35"/>
          <p:cNvSpPr/>
          <p:nvPr/>
        </p:nvSpPr>
        <p:spPr>
          <a:xfrm>
            <a:off x="6629400" y="3858768"/>
            <a:ext cx="3995928" cy="0"/>
          </a:xfrm>
          <a:prstGeom prst="line">
            <a:avLst/>
          </a:prstGeom>
          <a:noFill/>
          <a:ln w="7620">
            <a:solidFill>
              <a:srgbClr val="30425D"/>
            </a:solidFill>
            <a:prstDash val="solid"/>
          </a:ln>
        </p:spPr>
      </p:sp>
      <p:sp>
        <p:nvSpPr>
          <p:cNvPr id="38" name="Text 36"/>
          <p:cNvSpPr/>
          <p:nvPr/>
        </p:nvSpPr>
        <p:spPr>
          <a:xfrm>
            <a:off x="6044184" y="3931920"/>
            <a:ext cx="411480" cy="310896"/>
          </a:xfrm>
          <a:prstGeom prst="rect">
            <a:avLst/>
          </a:prstGeom>
          <a:noFill/>
          <a:ln/>
        </p:spPr>
        <p:txBody>
          <a:bodyPr wrap="square" lIns="0" tIns="0" rIns="0" bIns="0" rtlCol="0" anchor="ctr"/>
          <a:lstStyle/>
          <a:p>
            <a:pPr marL="0" indent="0">
              <a:buNone/>
            </a:pPr>
            <a:r>
              <a:rPr lang="ko-KR" altLang="en-US" sz="1200" b="1" dirty="0">
                <a:solidFill>
                  <a:srgbClr val="23B8DA"/>
                </a:solidFill>
                <a:latin typeface="Noto Sans KR" pitchFamily="34" charset="0"/>
                <a:ea typeface="Noto Sans KR" pitchFamily="34" charset="-122"/>
                <a:cs typeface="Noto Sans KR" pitchFamily="34" charset="-120"/>
              </a:rPr>
              <a:t>04</a:t>
            </a:r>
            <a:endParaRPr lang="ko-KR" sz="1200" dirty="0"/>
          </a:p>
        </p:txBody>
      </p:sp>
      <p:sp>
        <p:nvSpPr>
          <p:cNvPr id="39" name="Text 37"/>
          <p:cNvSpPr/>
          <p:nvPr/>
        </p:nvSpPr>
        <p:spPr>
          <a:xfrm>
            <a:off x="6601968" y="3931920"/>
            <a:ext cx="978408" cy="310896"/>
          </a:xfrm>
          <a:prstGeom prst="rect">
            <a:avLst/>
          </a:prstGeom>
          <a:noFill/>
          <a:ln/>
        </p:spPr>
        <p:txBody>
          <a:bodyPr wrap="square" lIns="0" tIns="0" rIns="0" bIns="0" rtlCol="0" anchor="ctr"/>
          <a:lstStyle/>
          <a:p>
            <a:pPr marL="0" indent="0">
              <a:buNone/>
            </a:pPr>
            <a:r>
              <a:rPr lang="ko-KR" altLang="en-US" sz="1900" b="1" dirty="0">
                <a:solidFill>
                  <a:srgbClr val="FFFFFF"/>
                </a:solidFill>
                <a:latin typeface="Noto Sans KR" pitchFamily="34" charset="0"/>
                <a:ea typeface="Noto Sans KR" pitchFamily="34" charset="-122"/>
                <a:cs typeface="Noto Sans KR" pitchFamily="34" charset="-120"/>
              </a:rPr>
              <a:t>행동</a:t>
            </a:r>
            <a:endParaRPr lang="ko-KR" sz="1900" dirty="0"/>
          </a:p>
        </p:txBody>
      </p:sp>
      <p:sp>
        <p:nvSpPr>
          <p:cNvPr id="40" name="Text 38"/>
          <p:cNvSpPr/>
          <p:nvPr/>
        </p:nvSpPr>
        <p:spPr>
          <a:xfrm>
            <a:off x="7882128" y="3931920"/>
            <a:ext cx="2770632" cy="310896"/>
          </a:xfrm>
          <a:prstGeom prst="rect">
            <a:avLst/>
          </a:prstGeom>
          <a:noFill/>
          <a:ln/>
        </p:spPr>
        <p:txBody>
          <a:bodyPr wrap="square" lIns="0" tIns="0" rIns="0" bIns="0" rtlCol="0" anchor="ctr"/>
          <a:lstStyle/>
          <a:p>
            <a:pPr marL="0" indent="0">
              <a:buNone/>
            </a:pPr>
            <a:r>
              <a:rPr lang="ko-KR" altLang="en-US" sz="1600" dirty="0">
                <a:solidFill>
                  <a:srgbClr val="B9C7D9"/>
                </a:solidFill>
                <a:latin typeface="Noto Sans KR" pitchFamily="34" charset="0"/>
                <a:ea typeface="Noto Sans KR" pitchFamily="34" charset="-122"/>
                <a:cs typeface="Noto Sans KR" pitchFamily="34" charset="-120"/>
              </a:rPr>
              <a:t>물리적 동작 수행</a:t>
            </a:r>
            <a:endParaRPr lang="ko-KR" sz="1600" dirty="0"/>
          </a:p>
        </p:txBody>
      </p:sp>
      <p:sp>
        <p:nvSpPr>
          <p:cNvPr id="41" name="Shape 39"/>
          <p:cNvSpPr/>
          <p:nvPr/>
        </p:nvSpPr>
        <p:spPr>
          <a:xfrm>
            <a:off x="6629400" y="4343400"/>
            <a:ext cx="3995928" cy="0"/>
          </a:xfrm>
          <a:prstGeom prst="line">
            <a:avLst/>
          </a:prstGeom>
          <a:noFill/>
          <a:ln w="7620">
            <a:solidFill>
              <a:srgbClr val="30425D"/>
            </a:solidFill>
            <a:prstDash val="solid"/>
          </a:ln>
        </p:spPr>
      </p:sp>
      <p:sp>
        <p:nvSpPr>
          <p:cNvPr id="42" name="Text 40"/>
          <p:cNvSpPr/>
          <p:nvPr/>
        </p:nvSpPr>
        <p:spPr>
          <a:xfrm>
            <a:off x="6044184" y="4416552"/>
            <a:ext cx="411480" cy="310896"/>
          </a:xfrm>
          <a:prstGeom prst="rect">
            <a:avLst/>
          </a:prstGeom>
          <a:noFill/>
          <a:ln/>
        </p:spPr>
        <p:txBody>
          <a:bodyPr wrap="square" lIns="0" tIns="0" rIns="0" bIns="0" rtlCol="0" anchor="ctr"/>
          <a:lstStyle/>
          <a:p>
            <a:pPr marL="0" indent="0">
              <a:buNone/>
            </a:pPr>
            <a:r>
              <a:rPr lang="ko-KR" altLang="en-US" sz="1200" b="1" dirty="0">
                <a:solidFill>
                  <a:srgbClr val="23B8DA"/>
                </a:solidFill>
                <a:latin typeface="Noto Sans KR" pitchFamily="34" charset="0"/>
                <a:ea typeface="Noto Sans KR" pitchFamily="34" charset="-122"/>
                <a:cs typeface="Noto Sans KR" pitchFamily="34" charset="-120"/>
              </a:rPr>
              <a:t>05</a:t>
            </a:r>
            <a:endParaRPr lang="ko-KR" sz="1200" dirty="0"/>
          </a:p>
        </p:txBody>
      </p:sp>
      <p:sp>
        <p:nvSpPr>
          <p:cNvPr id="43" name="Text 41"/>
          <p:cNvSpPr/>
          <p:nvPr/>
        </p:nvSpPr>
        <p:spPr>
          <a:xfrm>
            <a:off x="6601968" y="4416552"/>
            <a:ext cx="978408" cy="310896"/>
          </a:xfrm>
          <a:prstGeom prst="rect">
            <a:avLst/>
          </a:prstGeom>
          <a:noFill/>
          <a:ln/>
        </p:spPr>
        <p:txBody>
          <a:bodyPr wrap="square" lIns="0" tIns="0" rIns="0" bIns="0" rtlCol="0" anchor="ctr"/>
          <a:lstStyle/>
          <a:p>
            <a:pPr marL="0" indent="0">
              <a:buNone/>
            </a:pPr>
            <a:r>
              <a:rPr lang="ko-KR" altLang="en-US" sz="1900" b="1" dirty="0">
                <a:solidFill>
                  <a:srgbClr val="FFFFFF"/>
                </a:solidFill>
                <a:latin typeface="Noto Sans KR" pitchFamily="34" charset="0"/>
                <a:ea typeface="Noto Sans KR" pitchFamily="34" charset="-122"/>
                <a:cs typeface="Noto Sans KR" pitchFamily="34" charset="-120"/>
              </a:rPr>
              <a:t>검증</a:t>
            </a:r>
            <a:endParaRPr lang="ko-KR" sz="1900" dirty="0"/>
          </a:p>
        </p:txBody>
      </p:sp>
      <p:sp>
        <p:nvSpPr>
          <p:cNvPr id="44" name="Text 42"/>
          <p:cNvSpPr/>
          <p:nvPr/>
        </p:nvSpPr>
        <p:spPr>
          <a:xfrm>
            <a:off x="7882128" y="4416552"/>
            <a:ext cx="2770632" cy="310896"/>
          </a:xfrm>
          <a:prstGeom prst="rect">
            <a:avLst/>
          </a:prstGeom>
          <a:noFill/>
          <a:ln/>
        </p:spPr>
        <p:txBody>
          <a:bodyPr wrap="square" lIns="0" tIns="0" rIns="0" bIns="0" rtlCol="0" anchor="ctr"/>
          <a:lstStyle/>
          <a:p>
            <a:pPr marL="0" indent="0">
              <a:buNone/>
            </a:pPr>
            <a:r>
              <a:rPr lang="ko-KR" altLang="en-US" sz="1600" dirty="0">
                <a:solidFill>
                  <a:srgbClr val="B9C7D9"/>
                </a:solidFill>
                <a:latin typeface="Noto Sans KR" pitchFamily="34" charset="0"/>
                <a:ea typeface="Noto Sans KR" pitchFamily="34" charset="-122"/>
                <a:cs typeface="Noto Sans KR" pitchFamily="34" charset="-120"/>
              </a:rPr>
              <a:t>결과를 다시 확인</a:t>
            </a:r>
            <a:endParaRPr lang="ko-KR" sz="1600" dirty="0"/>
          </a:p>
        </p:txBody>
      </p:sp>
      <p:sp>
        <p:nvSpPr>
          <p:cNvPr id="45" name="Shape 43"/>
          <p:cNvSpPr/>
          <p:nvPr/>
        </p:nvSpPr>
        <p:spPr>
          <a:xfrm flipV="1">
            <a:off x="11064240" y="2615184"/>
            <a:ext cx="0" cy="2093976"/>
          </a:xfrm>
          <a:prstGeom prst="line">
            <a:avLst/>
          </a:prstGeom>
          <a:noFill/>
          <a:ln w="19050">
            <a:solidFill>
              <a:srgbClr val="23B8DA"/>
            </a:solidFill>
            <a:prstDash val="solid"/>
          </a:ln>
        </p:spPr>
      </p:sp>
      <p:sp>
        <p:nvSpPr>
          <p:cNvPr id="46" name="Shape 44"/>
          <p:cNvSpPr/>
          <p:nvPr/>
        </p:nvSpPr>
        <p:spPr>
          <a:xfrm flipH="1">
            <a:off x="10698480" y="2615184"/>
            <a:ext cx="365760" cy="0"/>
          </a:xfrm>
          <a:prstGeom prst="line">
            <a:avLst/>
          </a:prstGeom>
          <a:noFill/>
          <a:ln w="19050">
            <a:solidFill>
              <a:srgbClr val="23B8DA"/>
            </a:solidFill>
            <a:prstDash val="solid"/>
            <a:headEnd type="none"/>
            <a:tailEnd type="triangle"/>
          </a:ln>
        </p:spPr>
      </p:sp>
      <p:sp>
        <p:nvSpPr>
          <p:cNvPr id="47" name="Shape 45"/>
          <p:cNvSpPr/>
          <p:nvPr/>
        </p:nvSpPr>
        <p:spPr>
          <a:xfrm>
            <a:off x="10698480" y="4709160"/>
            <a:ext cx="365760" cy="0"/>
          </a:xfrm>
          <a:prstGeom prst="line">
            <a:avLst/>
          </a:prstGeom>
          <a:noFill/>
          <a:ln w="19050">
            <a:solidFill>
              <a:srgbClr val="23B8DA"/>
            </a:solidFill>
            <a:prstDash val="solid"/>
          </a:ln>
        </p:spPr>
      </p:sp>
      <p:sp>
        <p:nvSpPr>
          <p:cNvPr id="48" name="Text 46"/>
          <p:cNvSpPr/>
          <p:nvPr/>
        </p:nvSpPr>
        <p:spPr>
          <a:xfrm>
            <a:off x="758952" y="5760720"/>
            <a:ext cx="10671048" cy="438912"/>
          </a:xfrm>
          <a:prstGeom prst="rect">
            <a:avLst/>
          </a:prstGeom>
          <a:noFill/>
          <a:ln/>
        </p:spPr>
        <p:txBody>
          <a:bodyPr wrap="square" lIns="0" tIns="0" rIns="0" bIns="0" rtlCol="0" anchor="ctr"/>
          <a:lstStyle/>
          <a:p>
            <a:pPr marL="0" indent="0" algn="ctr">
              <a:buNone/>
            </a:pPr>
            <a:r>
              <a:rPr lang="ko-KR" altLang="en-US" sz="2200" b="1" dirty="0">
                <a:solidFill>
                  <a:srgbClr val="172A45"/>
                </a:solidFill>
                <a:latin typeface="Noto Sans KR" pitchFamily="34" charset="0"/>
                <a:ea typeface="Noto Sans KR" pitchFamily="34" charset="-122"/>
                <a:cs typeface="Noto Sans KR" pitchFamily="34" charset="-120"/>
              </a:rPr>
              <a:t>상황을 파악하고 행동한 뒤, 결과를 다음 판단에 반영합니다</a:t>
            </a:r>
            <a:endParaRPr lang="ko-KR"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피지컬 AI가 바꿀 수 있는 비즈니스의 접점</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업종별로 달라지는 물리적 작업, 서비스, 사람과 기계의 상호작용</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04</a:t>
            </a:r>
            <a:endParaRPr lang="ko-KR" sz="1000" dirty="0"/>
          </a:p>
        </p:txBody>
      </p:sp>
      <p:sp>
        <p:nvSpPr>
          <p:cNvPr id="8" name="Shape 6"/>
          <p:cNvSpPr/>
          <p:nvPr/>
        </p:nvSpPr>
        <p:spPr>
          <a:xfrm>
            <a:off x="3264408" y="2203704"/>
            <a:ext cx="1490472" cy="1399032"/>
          </a:xfrm>
          <a:prstGeom prst="line">
            <a:avLst/>
          </a:prstGeom>
          <a:noFill/>
          <a:ln w="16510">
            <a:solidFill>
              <a:srgbClr val="D9E2ED"/>
            </a:solidFill>
            <a:prstDash val="solid"/>
          </a:ln>
        </p:spPr>
      </p:sp>
      <p:sp>
        <p:nvSpPr>
          <p:cNvPr id="9" name="Shape 7"/>
          <p:cNvSpPr/>
          <p:nvPr/>
        </p:nvSpPr>
        <p:spPr>
          <a:xfrm>
            <a:off x="3264408" y="3172968"/>
            <a:ext cx="1490472" cy="429768"/>
          </a:xfrm>
          <a:prstGeom prst="line">
            <a:avLst/>
          </a:prstGeom>
          <a:noFill/>
          <a:ln w="16510">
            <a:solidFill>
              <a:srgbClr val="D9E2ED"/>
            </a:solidFill>
            <a:prstDash val="solid"/>
          </a:ln>
        </p:spPr>
      </p:sp>
      <p:sp>
        <p:nvSpPr>
          <p:cNvPr id="10" name="Shape 8"/>
          <p:cNvSpPr/>
          <p:nvPr/>
        </p:nvSpPr>
        <p:spPr>
          <a:xfrm flipV="1">
            <a:off x="3264408" y="3602736"/>
            <a:ext cx="1490472" cy="539496"/>
          </a:xfrm>
          <a:prstGeom prst="line">
            <a:avLst/>
          </a:prstGeom>
          <a:noFill/>
          <a:ln w="16510">
            <a:solidFill>
              <a:srgbClr val="D9E2ED"/>
            </a:solidFill>
            <a:prstDash val="solid"/>
          </a:ln>
        </p:spPr>
      </p:sp>
      <p:sp>
        <p:nvSpPr>
          <p:cNvPr id="11" name="Shape 9"/>
          <p:cNvSpPr/>
          <p:nvPr/>
        </p:nvSpPr>
        <p:spPr>
          <a:xfrm flipV="1">
            <a:off x="3264408" y="3602736"/>
            <a:ext cx="1490472" cy="1508760"/>
          </a:xfrm>
          <a:prstGeom prst="line">
            <a:avLst/>
          </a:prstGeom>
          <a:noFill/>
          <a:ln w="16510">
            <a:solidFill>
              <a:srgbClr val="D9E2ED"/>
            </a:solidFill>
            <a:prstDash val="solid"/>
          </a:ln>
        </p:spPr>
      </p:sp>
      <p:sp>
        <p:nvSpPr>
          <p:cNvPr id="12" name="Shape 10"/>
          <p:cNvSpPr/>
          <p:nvPr/>
        </p:nvSpPr>
        <p:spPr>
          <a:xfrm flipH="1">
            <a:off x="7443216" y="2203704"/>
            <a:ext cx="1078992" cy="1399032"/>
          </a:xfrm>
          <a:prstGeom prst="line">
            <a:avLst/>
          </a:prstGeom>
          <a:noFill/>
          <a:ln w="16510">
            <a:solidFill>
              <a:srgbClr val="D9E2ED"/>
            </a:solidFill>
            <a:prstDash val="solid"/>
          </a:ln>
        </p:spPr>
      </p:sp>
      <p:sp>
        <p:nvSpPr>
          <p:cNvPr id="13" name="Shape 11"/>
          <p:cNvSpPr/>
          <p:nvPr/>
        </p:nvSpPr>
        <p:spPr>
          <a:xfrm flipH="1">
            <a:off x="7443216" y="3172968"/>
            <a:ext cx="1078992" cy="429768"/>
          </a:xfrm>
          <a:prstGeom prst="line">
            <a:avLst/>
          </a:prstGeom>
          <a:noFill/>
          <a:ln w="16510">
            <a:solidFill>
              <a:srgbClr val="D9E2ED"/>
            </a:solidFill>
            <a:prstDash val="solid"/>
          </a:ln>
        </p:spPr>
      </p:sp>
      <p:sp>
        <p:nvSpPr>
          <p:cNvPr id="14" name="Shape 12"/>
          <p:cNvSpPr/>
          <p:nvPr/>
        </p:nvSpPr>
        <p:spPr>
          <a:xfrm flipH="1" flipV="1">
            <a:off x="7443216" y="3602736"/>
            <a:ext cx="1078992" cy="539496"/>
          </a:xfrm>
          <a:prstGeom prst="line">
            <a:avLst/>
          </a:prstGeom>
          <a:noFill/>
          <a:ln w="16510">
            <a:solidFill>
              <a:srgbClr val="D9E2ED"/>
            </a:solidFill>
            <a:prstDash val="solid"/>
          </a:ln>
        </p:spPr>
      </p:sp>
      <p:sp>
        <p:nvSpPr>
          <p:cNvPr id="15" name="Shape 13"/>
          <p:cNvSpPr/>
          <p:nvPr/>
        </p:nvSpPr>
        <p:spPr>
          <a:xfrm flipH="1" flipV="1">
            <a:off x="7443216" y="3602736"/>
            <a:ext cx="1078992" cy="1508760"/>
          </a:xfrm>
          <a:prstGeom prst="line">
            <a:avLst/>
          </a:prstGeom>
          <a:noFill/>
          <a:ln w="16510">
            <a:solidFill>
              <a:srgbClr val="D9E2ED"/>
            </a:solidFill>
            <a:prstDash val="solid"/>
          </a:ln>
        </p:spPr>
      </p:sp>
      <p:sp>
        <p:nvSpPr>
          <p:cNvPr id="16" name="Shape 14"/>
          <p:cNvSpPr/>
          <p:nvPr/>
        </p:nvSpPr>
        <p:spPr>
          <a:xfrm>
            <a:off x="4626864" y="2139696"/>
            <a:ext cx="2926080" cy="2926080"/>
          </a:xfrm>
          <a:prstGeom prst="ellipse">
            <a:avLst/>
          </a:prstGeom>
          <a:solidFill>
            <a:srgbClr val="F3F6FB"/>
          </a:solidFill>
          <a:ln w="12700">
            <a:solidFill>
              <a:srgbClr val="F3F6FB"/>
            </a:solidFill>
            <a:prstDash val="solid"/>
          </a:ln>
        </p:spPr>
      </p:sp>
      <p:sp>
        <p:nvSpPr>
          <p:cNvPr id="17" name="Shape 15"/>
          <p:cNvSpPr/>
          <p:nvPr/>
        </p:nvSpPr>
        <p:spPr>
          <a:xfrm>
            <a:off x="4919472" y="2432304"/>
            <a:ext cx="2340864" cy="2340864"/>
          </a:xfrm>
          <a:prstGeom prst="ellipse">
            <a:avLst/>
          </a:prstGeom>
          <a:solidFill>
            <a:srgbClr val="245FF2"/>
          </a:solidFill>
          <a:ln w="12700">
            <a:solidFill>
              <a:srgbClr val="245FF2"/>
            </a:solidFill>
            <a:prstDash val="solid"/>
          </a:ln>
        </p:spPr>
      </p:sp>
      <p:sp>
        <p:nvSpPr>
          <p:cNvPr id="18" name="Text 16"/>
          <p:cNvSpPr/>
          <p:nvPr/>
        </p:nvSpPr>
        <p:spPr>
          <a:xfrm>
            <a:off x="4843166" y="1956816"/>
            <a:ext cx="2606040" cy="329184"/>
          </a:xfrm>
          <a:prstGeom prst="rect">
            <a:avLst/>
          </a:prstGeom>
          <a:noFill/>
          <a:ln/>
        </p:spPr>
        <p:txBody>
          <a:bodyPr wrap="square" lIns="0" tIns="0" rIns="0" bIns="0" rtlCol="0" anchor="ctr"/>
          <a:lstStyle/>
          <a:p>
            <a:pPr marL="0" indent="0" algn="ctr">
              <a:buNone/>
            </a:pPr>
            <a:r>
              <a:rPr lang="ko-KR" altLang="en-US" sz="2800" b="1" dirty="0">
                <a:latin typeface="Noto Sans KR" pitchFamily="34" charset="0"/>
                <a:ea typeface="Noto Sans KR" pitchFamily="34" charset="-122"/>
                <a:cs typeface="Noto Sans KR" pitchFamily="34" charset="-120"/>
              </a:rPr>
              <a:t>PHYSICAL</a:t>
            </a:r>
            <a:r>
              <a:rPr lang="ko-KR" altLang="en-US" sz="2800" dirty="0"/>
              <a:t> </a:t>
            </a:r>
            <a:r>
              <a:rPr lang="ko-KR" altLang="en-US" sz="2800" b="1" dirty="0">
                <a:latin typeface="Noto Sans KR" pitchFamily="34" charset="0"/>
                <a:ea typeface="Noto Sans KR" pitchFamily="34" charset="-122"/>
                <a:cs typeface="Noto Sans KR" pitchFamily="34" charset="-120"/>
              </a:rPr>
              <a:t>AI</a:t>
            </a:r>
            <a:endParaRPr lang="ko-KR" sz="2800" dirty="0"/>
          </a:p>
        </p:txBody>
      </p:sp>
      <p:sp>
        <p:nvSpPr>
          <p:cNvPr id="19" name="Shape 17"/>
          <p:cNvSpPr/>
          <p:nvPr/>
        </p:nvSpPr>
        <p:spPr>
          <a:xfrm>
            <a:off x="868680" y="1883664"/>
            <a:ext cx="41148" cy="594360"/>
          </a:xfrm>
          <a:prstGeom prst="rect">
            <a:avLst/>
          </a:prstGeom>
          <a:solidFill>
            <a:srgbClr val="245FF2"/>
          </a:solidFill>
          <a:ln w="12700">
            <a:solidFill>
              <a:srgbClr val="245FF2"/>
            </a:solidFill>
            <a:prstDash val="solid"/>
          </a:ln>
        </p:spPr>
      </p:sp>
      <p:sp>
        <p:nvSpPr>
          <p:cNvPr id="20" name="Text 18"/>
          <p:cNvSpPr/>
          <p:nvPr/>
        </p:nvSpPr>
        <p:spPr>
          <a:xfrm>
            <a:off x="1042416" y="1883664"/>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제조</a:t>
            </a:r>
            <a:endParaRPr lang="ko-KR" sz="1800" dirty="0"/>
          </a:p>
        </p:txBody>
      </p:sp>
      <p:sp>
        <p:nvSpPr>
          <p:cNvPr id="21" name="Text 19"/>
          <p:cNvSpPr/>
          <p:nvPr/>
        </p:nvSpPr>
        <p:spPr>
          <a:xfrm>
            <a:off x="1042416" y="2267712"/>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취급·검사·조립</a:t>
            </a:r>
            <a:endParaRPr lang="ko-KR" sz="1300" dirty="0"/>
          </a:p>
        </p:txBody>
      </p:sp>
      <p:sp>
        <p:nvSpPr>
          <p:cNvPr id="22" name="Shape 20"/>
          <p:cNvSpPr/>
          <p:nvPr/>
        </p:nvSpPr>
        <p:spPr>
          <a:xfrm>
            <a:off x="868680" y="2852928"/>
            <a:ext cx="41148" cy="594360"/>
          </a:xfrm>
          <a:prstGeom prst="rect">
            <a:avLst/>
          </a:prstGeom>
          <a:solidFill>
            <a:srgbClr val="245FF2"/>
          </a:solidFill>
          <a:ln w="12700">
            <a:solidFill>
              <a:srgbClr val="245FF2"/>
            </a:solidFill>
            <a:prstDash val="solid"/>
          </a:ln>
        </p:spPr>
      </p:sp>
      <p:sp>
        <p:nvSpPr>
          <p:cNvPr id="23" name="Text 21"/>
          <p:cNvSpPr/>
          <p:nvPr/>
        </p:nvSpPr>
        <p:spPr>
          <a:xfrm>
            <a:off x="1042416" y="2852928"/>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물류</a:t>
            </a:r>
            <a:endParaRPr lang="ko-KR" sz="1800" dirty="0"/>
          </a:p>
        </p:txBody>
      </p:sp>
      <p:sp>
        <p:nvSpPr>
          <p:cNvPr id="24" name="Text 22"/>
          <p:cNvSpPr/>
          <p:nvPr/>
        </p:nvSpPr>
        <p:spPr>
          <a:xfrm>
            <a:off x="1042416" y="3236976"/>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피킹·분류·이동</a:t>
            </a:r>
            <a:endParaRPr lang="ko-KR" sz="1300" dirty="0"/>
          </a:p>
        </p:txBody>
      </p:sp>
      <p:sp>
        <p:nvSpPr>
          <p:cNvPr id="25" name="Shape 23"/>
          <p:cNvSpPr/>
          <p:nvPr/>
        </p:nvSpPr>
        <p:spPr>
          <a:xfrm>
            <a:off x="868680" y="3822192"/>
            <a:ext cx="41148" cy="594360"/>
          </a:xfrm>
          <a:prstGeom prst="rect">
            <a:avLst/>
          </a:prstGeom>
          <a:solidFill>
            <a:srgbClr val="245FF2"/>
          </a:solidFill>
          <a:ln w="12700">
            <a:solidFill>
              <a:srgbClr val="245FF2"/>
            </a:solidFill>
            <a:prstDash val="solid"/>
          </a:ln>
        </p:spPr>
      </p:sp>
      <p:sp>
        <p:nvSpPr>
          <p:cNvPr id="26" name="Text 24"/>
          <p:cNvSpPr/>
          <p:nvPr/>
        </p:nvSpPr>
        <p:spPr>
          <a:xfrm>
            <a:off x="1042416" y="3822192"/>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서비스</a:t>
            </a:r>
            <a:endParaRPr lang="ko-KR" sz="1800" dirty="0"/>
          </a:p>
        </p:txBody>
      </p:sp>
      <p:sp>
        <p:nvSpPr>
          <p:cNvPr id="27" name="Text 25"/>
          <p:cNvSpPr/>
          <p:nvPr/>
        </p:nvSpPr>
        <p:spPr>
          <a:xfrm>
            <a:off x="1042416" y="4206240"/>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안내·응대·보조</a:t>
            </a:r>
            <a:endParaRPr lang="ko-KR" sz="1300" dirty="0"/>
          </a:p>
        </p:txBody>
      </p:sp>
      <p:sp>
        <p:nvSpPr>
          <p:cNvPr id="28" name="Shape 26"/>
          <p:cNvSpPr/>
          <p:nvPr/>
        </p:nvSpPr>
        <p:spPr>
          <a:xfrm>
            <a:off x="868680" y="4791456"/>
            <a:ext cx="41148" cy="594360"/>
          </a:xfrm>
          <a:prstGeom prst="rect">
            <a:avLst/>
          </a:prstGeom>
          <a:solidFill>
            <a:srgbClr val="245FF2"/>
          </a:solidFill>
          <a:ln w="12700">
            <a:solidFill>
              <a:srgbClr val="245FF2"/>
            </a:solidFill>
            <a:prstDash val="solid"/>
          </a:ln>
        </p:spPr>
      </p:sp>
      <p:sp>
        <p:nvSpPr>
          <p:cNvPr id="29" name="Text 27"/>
          <p:cNvSpPr/>
          <p:nvPr/>
        </p:nvSpPr>
        <p:spPr>
          <a:xfrm>
            <a:off x="1042416" y="4791456"/>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농업</a:t>
            </a:r>
            <a:endParaRPr lang="ko-KR" sz="1800" dirty="0"/>
          </a:p>
        </p:txBody>
      </p:sp>
      <p:sp>
        <p:nvSpPr>
          <p:cNvPr id="30" name="Text 28"/>
          <p:cNvSpPr/>
          <p:nvPr/>
        </p:nvSpPr>
        <p:spPr>
          <a:xfrm>
            <a:off x="1042416" y="5175504"/>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작업·생육 관찰</a:t>
            </a:r>
            <a:endParaRPr lang="ko-KR" sz="1300" dirty="0"/>
          </a:p>
        </p:txBody>
      </p:sp>
      <p:sp>
        <p:nvSpPr>
          <p:cNvPr id="31" name="Shape 29"/>
          <p:cNvSpPr/>
          <p:nvPr/>
        </p:nvSpPr>
        <p:spPr>
          <a:xfrm>
            <a:off x="8641080" y="1883664"/>
            <a:ext cx="41148" cy="594360"/>
          </a:xfrm>
          <a:prstGeom prst="rect">
            <a:avLst/>
          </a:prstGeom>
          <a:solidFill>
            <a:srgbClr val="23B8DA"/>
          </a:solidFill>
          <a:ln w="12700">
            <a:solidFill>
              <a:srgbClr val="23B8DA"/>
            </a:solidFill>
            <a:prstDash val="solid"/>
          </a:ln>
        </p:spPr>
      </p:sp>
      <p:sp>
        <p:nvSpPr>
          <p:cNvPr id="32" name="Text 30"/>
          <p:cNvSpPr/>
          <p:nvPr/>
        </p:nvSpPr>
        <p:spPr>
          <a:xfrm>
            <a:off x="8814816" y="1883664"/>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교육</a:t>
            </a:r>
            <a:endParaRPr lang="ko-KR" sz="1800" dirty="0"/>
          </a:p>
        </p:txBody>
      </p:sp>
      <p:sp>
        <p:nvSpPr>
          <p:cNvPr id="33" name="Text 31"/>
          <p:cNvSpPr/>
          <p:nvPr/>
        </p:nvSpPr>
        <p:spPr>
          <a:xfrm>
            <a:off x="8814816" y="2267712"/>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AI·로보틱스 실습</a:t>
            </a:r>
            <a:endParaRPr lang="ko-KR" sz="1300" dirty="0"/>
          </a:p>
        </p:txBody>
      </p:sp>
      <p:sp>
        <p:nvSpPr>
          <p:cNvPr id="34" name="Shape 32"/>
          <p:cNvSpPr/>
          <p:nvPr/>
        </p:nvSpPr>
        <p:spPr>
          <a:xfrm>
            <a:off x="8641080" y="2852928"/>
            <a:ext cx="41148" cy="594360"/>
          </a:xfrm>
          <a:prstGeom prst="rect">
            <a:avLst/>
          </a:prstGeom>
          <a:solidFill>
            <a:srgbClr val="23B8DA"/>
          </a:solidFill>
          <a:ln w="12700">
            <a:solidFill>
              <a:srgbClr val="23B8DA"/>
            </a:solidFill>
            <a:prstDash val="solid"/>
          </a:ln>
        </p:spPr>
      </p:sp>
      <p:sp>
        <p:nvSpPr>
          <p:cNvPr id="35" name="Text 33"/>
          <p:cNvSpPr/>
          <p:nvPr/>
        </p:nvSpPr>
        <p:spPr>
          <a:xfrm>
            <a:off x="8814816" y="2852928"/>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헬스케어</a:t>
            </a:r>
            <a:endParaRPr lang="ko-KR" sz="1800" dirty="0"/>
          </a:p>
        </p:txBody>
      </p:sp>
      <p:sp>
        <p:nvSpPr>
          <p:cNvPr id="36" name="Text 34"/>
          <p:cNvSpPr/>
          <p:nvPr/>
        </p:nvSpPr>
        <p:spPr>
          <a:xfrm>
            <a:off x="8814816" y="3236976"/>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시설 내 지원 작업</a:t>
            </a:r>
            <a:endParaRPr lang="ko-KR" sz="1300" dirty="0"/>
          </a:p>
        </p:txBody>
      </p:sp>
      <p:sp>
        <p:nvSpPr>
          <p:cNvPr id="37" name="Shape 35"/>
          <p:cNvSpPr/>
          <p:nvPr/>
        </p:nvSpPr>
        <p:spPr>
          <a:xfrm>
            <a:off x="8641080" y="3822192"/>
            <a:ext cx="41148" cy="594360"/>
          </a:xfrm>
          <a:prstGeom prst="rect">
            <a:avLst/>
          </a:prstGeom>
          <a:solidFill>
            <a:srgbClr val="23B8DA"/>
          </a:solidFill>
          <a:ln w="12700">
            <a:solidFill>
              <a:srgbClr val="23B8DA"/>
            </a:solidFill>
            <a:prstDash val="solid"/>
          </a:ln>
        </p:spPr>
      </p:sp>
      <p:sp>
        <p:nvSpPr>
          <p:cNvPr id="38" name="Text 36"/>
          <p:cNvSpPr/>
          <p:nvPr/>
        </p:nvSpPr>
        <p:spPr>
          <a:xfrm>
            <a:off x="8814816" y="3822192"/>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건설</a:t>
            </a:r>
            <a:endParaRPr lang="ko-KR" sz="1800" dirty="0"/>
          </a:p>
        </p:txBody>
      </p:sp>
      <p:sp>
        <p:nvSpPr>
          <p:cNvPr id="39" name="Text 37"/>
          <p:cNvSpPr/>
          <p:nvPr/>
        </p:nvSpPr>
        <p:spPr>
          <a:xfrm>
            <a:off x="8814816" y="4206240"/>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현장 관찰·작업 보조</a:t>
            </a:r>
            <a:endParaRPr lang="ko-KR" sz="1300" dirty="0"/>
          </a:p>
        </p:txBody>
      </p:sp>
      <p:sp>
        <p:nvSpPr>
          <p:cNvPr id="40" name="Shape 38"/>
          <p:cNvSpPr/>
          <p:nvPr/>
        </p:nvSpPr>
        <p:spPr>
          <a:xfrm>
            <a:off x="8641080" y="4791456"/>
            <a:ext cx="41148" cy="594360"/>
          </a:xfrm>
          <a:prstGeom prst="rect">
            <a:avLst/>
          </a:prstGeom>
          <a:solidFill>
            <a:srgbClr val="23B8DA"/>
          </a:solidFill>
          <a:ln w="12700">
            <a:solidFill>
              <a:srgbClr val="23B8DA"/>
            </a:solidFill>
            <a:prstDash val="solid"/>
          </a:ln>
        </p:spPr>
      </p:sp>
      <p:sp>
        <p:nvSpPr>
          <p:cNvPr id="41" name="Text 39"/>
          <p:cNvSpPr/>
          <p:nvPr/>
        </p:nvSpPr>
        <p:spPr>
          <a:xfrm>
            <a:off x="8814816" y="4791456"/>
            <a:ext cx="2606040" cy="338328"/>
          </a:xfrm>
          <a:prstGeom prst="rect">
            <a:avLst/>
          </a:prstGeom>
          <a:noFill/>
          <a:ln/>
        </p:spPr>
        <p:txBody>
          <a:bodyPr wrap="square" lIns="0" tIns="0" rIns="0" bIns="0" rtlCol="0" anchor="ctr"/>
          <a:lstStyle/>
          <a:p>
            <a:pPr marL="0" indent="0">
              <a:buNone/>
            </a:pPr>
            <a:r>
              <a:rPr lang="ko-KR" altLang="en-US" sz="1800" b="1" dirty="0">
                <a:solidFill>
                  <a:srgbClr val="172A45"/>
                </a:solidFill>
                <a:latin typeface="Noto Sans KR" pitchFamily="34" charset="0"/>
                <a:ea typeface="Noto Sans KR" pitchFamily="34" charset="-122"/>
                <a:cs typeface="Noto Sans KR" pitchFamily="34" charset="-120"/>
              </a:rPr>
              <a:t>행사·엔터테인먼트</a:t>
            </a:r>
            <a:endParaRPr lang="ko-KR" sz="1800" dirty="0"/>
          </a:p>
        </p:txBody>
      </p:sp>
      <p:sp>
        <p:nvSpPr>
          <p:cNvPr id="42" name="Text 40"/>
          <p:cNvSpPr/>
          <p:nvPr/>
        </p:nvSpPr>
        <p:spPr>
          <a:xfrm>
            <a:off x="8814816" y="5175504"/>
            <a:ext cx="2651760" cy="256032"/>
          </a:xfrm>
          <a:prstGeom prst="rect">
            <a:avLst/>
          </a:prstGeom>
          <a:noFill/>
          <a:ln/>
        </p:spPr>
        <p:txBody>
          <a:bodyPr wrap="square" lIns="0" tIns="0" rIns="0" bIns="0" rtlCol="0" anchor="ctr"/>
          <a:lstStyle/>
          <a:p>
            <a:pPr marL="0" indent="0">
              <a:buNone/>
            </a:pPr>
            <a:r>
              <a:rPr lang="ko-KR" altLang="en-US" sz="1300" dirty="0">
                <a:solidFill>
                  <a:srgbClr val="5D6C82"/>
                </a:solidFill>
                <a:latin typeface="Noto Sans KR" pitchFamily="34" charset="0"/>
                <a:ea typeface="Noto Sans KR" pitchFamily="34" charset="-122"/>
                <a:cs typeface="Noto Sans KR" pitchFamily="34" charset="-120"/>
              </a:rPr>
              <a:t>상호작용·로봇 체험</a:t>
            </a:r>
            <a:endParaRPr lang="ko-KR" sz="1300" dirty="0"/>
          </a:p>
        </p:txBody>
      </p:sp>
      <p:sp>
        <p:nvSpPr>
          <p:cNvPr id="43" name="Text 41"/>
          <p:cNvSpPr/>
          <p:nvPr/>
        </p:nvSpPr>
        <p:spPr>
          <a:xfrm>
            <a:off x="758952" y="5833872"/>
            <a:ext cx="10671048" cy="438912"/>
          </a:xfrm>
          <a:prstGeom prst="rect">
            <a:avLst/>
          </a:prstGeom>
          <a:noFill/>
          <a:ln/>
        </p:spPr>
        <p:txBody>
          <a:bodyPr wrap="square" lIns="0" tIns="0" rIns="0" bIns="0" rtlCol="0" anchor="ctr"/>
          <a:lstStyle/>
          <a:p>
            <a:pPr marL="0" indent="0" algn="ctr">
              <a:buNone/>
            </a:pPr>
            <a:r>
              <a:rPr lang="ko-KR" altLang="en-US" sz="2200" b="1" dirty="0">
                <a:solidFill>
                  <a:srgbClr val="172A45"/>
                </a:solidFill>
                <a:latin typeface="Noto Sans KR" pitchFamily="34" charset="0"/>
                <a:ea typeface="Noto Sans KR" pitchFamily="34" charset="-122"/>
                <a:cs typeface="Noto Sans KR" pitchFamily="34" charset="-120"/>
              </a:rPr>
              <a:t>기술의 가능성을 우리 산업의 구체적인 작업과 연결해 봅니다</a:t>
            </a:r>
            <a:endParaRPr lang="ko-KR" sz="2200" dirty="0"/>
          </a:p>
        </p:txBody>
      </p:sp>
      <p:pic>
        <p:nvPicPr>
          <p:cNvPr id="47" name="Picture 46">
            <a:extLst>
              <a:ext uri="{FF2B5EF4-FFF2-40B4-BE49-F238E27FC236}">
                <a16:creationId xmlns:a16="http://schemas.microsoft.com/office/drawing/2014/main" id="{6FC1A737-F0F6-7E5A-4290-004BC54AFA22}"/>
              </a:ext>
            </a:extLst>
          </p:cNvPr>
          <p:cNvPicPr>
            <a:picLocks noChangeAspect="1"/>
          </p:cNvPicPr>
          <p:nvPr/>
        </p:nvPicPr>
        <p:blipFill>
          <a:blip r:embed="rId3"/>
          <a:stretch>
            <a:fillRect/>
          </a:stretch>
        </p:blipFill>
        <p:spPr>
          <a:xfrm>
            <a:off x="4873751" y="2414016"/>
            <a:ext cx="2406672" cy="23408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F39"/>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FFFFFF"/>
                </a:solidFill>
                <a:latin typeface="Noto Sans KR" pitchFamily="34" charset="0"/>
                <a:ea typeface="Noto Sans KR" pitchFamily="34" charset="-122"/>
                <a:cs typeface="Noto Sans KR" pitchFamily="34" charset="-120"/>
              </a:rPr>
              <a:t>우리 기업은 피지컬 AI를 준비하고 있습니까?</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ADBBD0"/>
                </a:solidFill>
                <a:latin typeface="Noto Sans KR" pitchFamily="34" charset="0"/>
                <a:ea typeface="Noto Sans KR" pitchFamily="34" charset="-122"/>
                <a:cs typeface="Noto Sans KR" pitchFamily="34" charset="-120"/>
              </a:rPr>
              <a:t>기술을 이해하면, 실험할 이유와 평가할 기준이 분명해집니다</a:t>
            </a:r>
            <a:endParaRPr lang="ko-KR" sz="1600" dirty="0"/>
          </a:p>
        </p:txBody>
      </p:sp>
      <p:sp>
        <p:nvSpPr>
          <p:cNvPr id="5" name="Shape 3"/>
          <p:cNvSpPr/>
          <p:nvPr/>
        </p:nvSpPr>
        <p:spPr>
          <a:xfrm>
            <a:off x="502920" y="6473952"/>
            <a:ext cx="11183112" cy="0"/>
          </a:xfrm>
          <a:prstGeom prst="line">
            <a:avLst/>
          </a:prstGeom>
          <a:noFill/>
          <a:ln w="8890">
            <a:solidFill>
              <a:srgbClr val="31415A"/>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8EA2BC"/>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8EA2BC"/>
                </a:solidFill>
                <a:latin typeface="Noto Sans KR" pitchFamily="34" charset="0"/>
                <a:ea typeface="Noto Sans KR" pitchFamily="34" charset="-122"/>
                <a:cs typeface="Noto Sans KR" pitchFamily="34" charset="-120"/>
              </a:rPr>
              <a:t>05</a:t>
            </a:r>
            <a:endParaRPr lang="ko-KR" sz="1000" dirty="0"/>
          </a:p>
        </p:txBody>
      </p:sp>
      <p:sp>
        <p:nvSpPr>
          <p:cNvPr id="8" name="Text 6"/>
          <p:cNvSpPr/>
          <p:nvPr/>
        </p:nvSpPr>
        <p:spPr>
          <a:xfrm>
            <a:off x="795528" y="2075688"/>
            <a:ext cx="5120640" cy="1554480"/>
          </a:xfrm>
          <a:prstGeom prst="rect">
            <a:avLst/>
          </a:prstGeom>
          <a:noFill/>
          <a:ln/>
        </p:spPr>
        <p:txBody>
          <a:bodyPr wrap="square" lIns="0" tIns="0" rIns="0" bIns="0" rtlCol="0" anchor="ctr"/>
          <a:lstStyle/>
          <a:p>
            <a:pPr marL="0" indent="0">
              <a:buNone/>
            </a:pPr>
            <a:r>
              <a:rPr lang="ko-KR" altLang="en-US" sz="3800" b="1" dirty="0">
                <a:solidFill>
                  <a:srgbClr val="FFFFFF"/>
                </a:solidFill>
                <a:latin typeface="Noto Sans KR" pitchFamily="34" charset="0"/>
                <a:ea typeface="Noto Sans KR" pitchFamily="34" charset="-122"/>
                <a:cs typeface="Noto Sans KR" pitchFamily="34" charset="-120"/>
              </a:rPr>
              <a:t>로봇 구매에 앞서,</a:t>
            </a:r>
            <a:endParaRPr lang="ko-KR" sz="3800" dirty="0"/>
          </a:p>
          <a:p>
            <a:pPr marL="0" indent="0">
              <a:buNone/>
            </a:pPr>
            <a:r>
              <a:rPr lang="ko-KR" altLang="en-US" sz="3800" b="1" dirty="0">
                <a:solidFill>
                  <a:srgbClr val="FFFFFF"/>
                </a:solidFill>
                <a:latin typeface="Noto Sans KR" pitchFamily="34" charset="0"/>
                <a:ea typeface="Noto Sans KR" pitchFamily="34" charset="-122"/>
                <a:cs typeface="Noto Sans KR" pitchFamily="34" charset="-120"/>
              </a:rPr>
              <a:t>기술 이해부터</a:t>
            </a:r>
            <a:endParaRPr lang="ko-KR" sz="3800" dirty="0"/>
          </a:p>
        </p:txBody>
      </p:sp>
      <p:sp>
        <p:nvSpPr>
          <p:cNvPr id="9" name="Shape 7"/>
          <p:cNvSpPr/>
          <p:nvPr/>
        </p:nvSpPr>
        <p:spPr>
          <a:xfrm>
            <a:off x="822960" y="3986784"/>
            <a:ext cx="621792" cy="45720"/>
          </a:xfrm>
          <a:prstGeom prst="rect">
            <a:avLst/>
          </a:prstGeom>
          <a:solidFill>
            <a:srgbClr val="23B8DA"/>
          </a:solidFill>
          <a:ln w="12700">
            <a:solidFill>
              <a:srgbClr val="23B8DA"/>
            </a:solidFill>
            <a:prstDash val="solid"/>
          </a:ln>
        </p:spPr>
      </p:sp>
      <p:sp>
        <p:nvSpPr>
          <p:cNvPr id="10" name="Text 8"/>
          <p:cNvSpPr/>
          <p:nvPr/>
        </p:nvSpPr>
        <p:spPr>
          <a:xfrm>
            <a:off x="822960" y="4297680"/>
            <a:ext cx="4754880" cy="822960"/>
          </a:xfrm>
          <a:prstGeom prst="rect">
            <a:avLst/>
          </a:prstGeom>
          <a:noFill/>
          <a:ln/>
        </p:spPr>
        <p:txBody>
          <a:bodyPr wrap="square" lIns="0" tIns="0" rIns="0" bIns="0" rtlCol="0" anchor="ctr"/>
          <a:lstStyle/>
          <a:p>
            <a:pPr marL="0" indent="0">
              <a:buNone/>
            </a:pPr>
            <a:r>
              <a:rPr lang="ko-KR" altLang="en-US" sz="2000" dirty="0">
                <a:solidFill>
                  <a:srgbClr val="B8C9DE"/>
                </a:solidFill>
                <a:latin typeface="Noto Sans KR" pitchFamily="34" charset="0"/>
                <a:ea typeface="Noto Sans KR" pitchFamily="34" charset="-122"/>
                <a:cs typeface="Noto Sans KR" pitchFamily="34" charset="-120"/>
              </a:rPr>
              <a:t>우리 조직에 필요한 변</a:t>
            </a:r>
            <a:r>
              <a:rPr lang="en-US" altLang="ko-KR" sz="2000" dirty="0">
                <a:solidFill>
                  <a:srgbClr val="B8C9DE"/>
                </a:solidFill>
                <a:latin typeface="Noto Sans KR" pitchFamily="34" charset="0"/>
                <a:ea typeface="Noto Sans KR" pitchFamily="34" charset="-122"/>
                <a:cs typeface="Noto Sans KR" pitchFamily="34" charset="-120"/>
              </a:rPr>
              <a:t>s</a:t>
            </a:r>
            <a:r>
              <a:rPr lang="ko-KR" altLang="en-US" sz="2000" dirty="0">
                <a:solidFill>
                  <a:srgbClr val="B8C9DE"/>
                </a:solidFill>
                <a:latin typeface="Noto Sans KR" pitchFamily="34" charset="0"/>
                <a:ea typeface="Noto Sans KR" pitchFamily="34" charset="-122"/>
                <a:cs typeface="Noto Sans KR" pitchFamily="34" charset="-120"/>
              </a:rPr>
              <a:t>화가</a:t>
            </a:r>
            <a:endParaRPr lang="ko-KR" sz="2000" dirty="0"/>
          </a:p>
          <a:p>
            <a:pPr marL="0" indent="0">
              <a:buNone/>
            </a:pPr>
            <a:r>
              <a:rPr lang="ko-KR" altLang="en-US" sz="2000" dirty="0">
                <a:solidFill>
                  <a:srgbClr val="B8C9DE"/>
                </a:solidFill>
                <a:latin typeface="Noto Sans KR" pitchFamily="34" charset="0"/>
                <a:ea typeface="Noto Sans KR" pitchFamily="34" charset="-122"/>
                <a:cs typeface="Noto Sans KR" pitchFamily="34" charset="-120"/>
              </a:rPr>
              <a:t>무엇인지 먼저 살펴봅니다</a:t>
            </a:r>
            <a:endParaRPr lang="ko-KR" sz="2000" dirty="0"/>
          </a:p>
        </p:txBody>
      </p:sp>
      <p:sp>
        <p:nvSpPr>
          <p:cNvPr id="11" name="Text 9"/>
          <p:cNvSpPr/>
          <p:nvPr/>
        </p:nvSpPr>
        <p:spPr>
          <a:xfrm>
            <a:off x="6510528" y="1956816"/>
            <a:ext cx="365760" cy="365760"/>
          </a:xfrm>
          <a:prstGeom prst="rect">
            <a:avLst/>
          </a:prstGeom>
          <a:noFill/>
          <a:ln/>
        </p:spPr>
        <p:txBody>
          <a:bodyPr wrap="square" lIns="0" tIns="0" rIns="0" bIns="0" rtlCol="0" anchor="ctr"/>
          <a:lstStyle/>
          <a:p>
            <a:pPr marL="0" indent="0">
              <a:buNone/>
            </a:pPr>
            <a:r>
              <a:rPr lang="ko-KR" altLang="en-US" sz="1300" b="1" dirty="0">
                <a:solidFill>
                  <a:srgbClr val="23B8DA"/>
                </a:solidFill>
                <a:latin typeface="Noto Sans KR" pitchFamily="34" charset="0"/>
                <a:ea typeface="Noto Sans KR" pitchFamily="34" charset="-122"/>
                <a:cs typeface="Noto Sans KR" pitchFamily="34" charset="-120"/>
              </a:rPr>
              <a:t>01</a:t>
            </a:r>
            <a:endParaRPr lang="ko-KR" sz="1300" dirty="0"/>
          </a:p>
        </p:txBody>
      </p:sp>
      <p:sp>
        <p:nvSpPr>
          <p:cNvPr id="12" name="Text 10"/>
          <p:cNvSpPr/>
          <p:nvPr/>
        </p:nvSpPr>
        <p:spPr>
          <a:xfrm>
            <a:off x="7059168" y="1956816"/>
            <a:ext cx="4251960" cy="384048"/>
          </a:xfrm>
          <a:prstGeom prst="rect">
            <a:avLst/>
          </a:prstGeom>
          <a:noFill/>
          <a:ln/>
        </p:spPr>
        <p:txBody>
          <a:bodyPr wrap="square" lIns="0" tIns="0" rIns="0" bIns="0" rtlCol="0" anchor="ctr"/>
          <a:lstStyle/>
          <a:p>
            <a:pPr marL="0" indent="0">
              <a:buNone/>
            </a:pPr>
            <a:r>
              <a:rPr lang="ko-KR" altLang="en-US" sz="1800" dirty="0">
                <a:solidFill>
                  <a:srgbClr val="FFFFFF"/>
                </a:solidFill>
                <a:latin typeface="Noto Sans KR" pitchFamily="34" charset="0"/>
                <a:ea typeface="Noto Sans KR" pitchFamily="34" charset="-122"/>
                <a:cs typeface="Noto Sans KR" pitchFamily="34" charset="-120"/>
              </a:rPr>
              <a:t>우리 산업에서 무엇이 달라질까?</a:t>
            </a:r>
            <a:endParaRPr lang="ko-KR" sz="1800" dirty="0"/>
          </a:p>
        </p:txBody>
      </p:sp>
      <p:sp>
        <p:nvSpPr>
          <p:cNvPr id="13" name="Shape 11"/>
          <p:cNvSpPr/>
          <p:nvPr/>
        </p:nvSpPr>
        <p:spPr>
          <a:xfrm>
            <a:off x="6519672" y="2441448"/>
            <a:ext cx="4837176" cy="0"/>
          </a:xfrm>
          <a:prstGeom prst="line">
            <a:avLst/>
          </a:prstGeom>
          <a:noFill/>
          <a:ln w="7620">
            <a:solidFill>
              <a:srgbClr val="30425D"/>
            </a:solidFill>
            <a:prstDash val="solid"/>
          </a:ln>
        </p:spPr>
      </p:sp>
      <p:sp>
        <p:nvSpPr>
          <p:cNvPr id="14" name="Text 12"/>
          <p:cNvSpPr/>
          <p:nvPr/>
        </p:nvSpPr>
        <p:spPr>
          <a:xfrm>
            <a:off x="6510528" y="2578608"/>
            <a:ext cx="365760" cy="365760"/>
          </a:xfrm>
          <a:prstGeom prst="rect">
            <a:avLst/>
          </a:prstGeom>
          <a:noFill/>
          <a:ln/>
        </p:spPr>
        <p:txBody>
          <a:bodyPr wrap="square" lIns="0" tIns="0" rIns="0" bIns="0" rtlCol="0" anchor="ctr"/>
          <a:lstStyle/>
          <a:p>
            <a:pPr marL="0" indent="0">
              <a:buNone/>
            </a:pPr>
            <a:r>
              <a:rPr lang="ko-KR" altLang="en-US" sz="1300" b="1" dirty="0">
                <a:solidFill>
                  <a:srgbClr val="23B8DA"/>
                </a:solidFill>
                <a:latin typeface="Noto Sans KR" pitchFamily="34" charset="0"/>
                <a:ea typeface="Noto Sans KR" pitchFamily="34" charset="-122"/>
                <a:cs typeface="Noto Sans KR" pitchFamily="34" charset="-120"/>
              </a:rPr>
              <a:t>02</a:t>
            </a:r>
            <a:endParaRPr lang="ko-KR" sz="1300" dirty="0"/>
          </a:p>
        </p:txBody>
      </p:sp>
      <p:sp>
        <p:nvSpPr>
          <p:cNvPr id="15" name="Text 13"/>
          <p:cNvSpPr/>
          <p:nvPr/>
        </p:nvSpPr>
        <p:spPr>
          <a:xfrm>
            <a:off x="7059168" y="2578608"/>
            <a:ext cx="4251960" cy="384048"/>
          </a:xfrm>
          <a:prstGeom prst="rect">
            <a:avLst/>
          </a:prstGeom>
          <a:noFill/>
          <a:ln/>
        </p:spPr>
        <p:txBody>
          <a:bodyPr wrap="square" lIns="0" tIns="0" rIns="0" bIns="0" rtlCol="0" anchor="ctr"/>
          <a:lstStyle/>
          <a:p>
            <a:pPr marL="0" indent="0">
              <a:buNone/>
            </a:pPr>
            <a:r>
              <a:rPr lang="ko-KR" altLang="en-US" sz="1800" dirty="0">
                <a:solidFill>
                  <a:srgbClr val="FFFFFF"/>
                </a:solidFill>
                <a:latin typeface="Noto Sans KR" pitchFamily="34" charset="0"/>
                <a:ea typeface="Noto Sans KR" pitchFamily="34" charset="-122"/>
                <a:cs typeface="Noto Sans KR" pitchFamily="34" charset="-120"/>
              </a:rPr>
              <a:t>어떤 공정과 서비스에 도움이 될까?</a:t>
            </a:r>
            <a:endParaRPr lang="ko-KR" sz="1800" dirty="0"/>
          </a:p>
        </p:txBody>
      </p:sp>
      <p:sp>
        <p:nvSpPr>
          <p:cNvPr id="16" name="Shape 14"/>
          <p:cNvSpPr/>
          <p:nvPr/>
        </p:nvSpPr>
        <p:spPr>
          <a:xfrm>
            <a:off x="6519672" y="3063240"/>
            <a:ext cx="4837176" cy="0"/>
          </a:xfrm>
          <a:prstGeom prst="line">
            <a:avLst/>
          </a:prstGeom>
          <a:noFill/>
          <a:ln w="7620">
            <a:solidFill>
              <a:srgbClr val="30425D"/>
            </a:solidFill>
            <a:prstDash val="solid"/>
          </a:ln>
        </p:spPr>
      </p:sp>
      <p:sp>
        <p:nvSpPr>
          <p:cNvPr id="17" name="Text 15"/>
          <p:cNvSpPr/>
          <p:nvPr/>
        </p:nvSpPr>
        <p:spPr>
          <a:xfrm>
            <a:off x="6510528" y="3200400"/>
            <a:ext cx="365760" cy="365760"/>
          </a:xfrm>
          <a:prstGeom prst="rect">
            <a:avLst/>
          </a:prstGeom>
          <a:noFill/>
          <a:ln/>
        </p:spPr>
        <p:txBody>
          <a:bodyPr wrap="square" lIns="0" tIns="0" rIns="0" bIns="0" rtlCol="0" anchor="ctr"/>
          <a:lstStyle/>
          <a:p>
            <a:pPr marL="0" indent="0">
              <a:buNone/>
            </a:pPr>
            <a:r>
              <a:rPr lang="ko-KR" altLang="en-US" sz="1300" b="1" dirty="0">
                <a:solidFill>
                  <a:srgbClr val="23B8DA"/>
                </a:solidFill>
                <a:latin typeface="Noto Sans KR" pitchFamily="34" charset="0"/>
                <a:ea typeface="Noto Sans KR" pitchFamily="34" charset="-122"/>
                <a:cs typeface="Noto Sans KR" pitchFamily="34" charset="-120"/>
              </a:rPr>
              <a:t>03</a:t>
            </a:r>
            <a:endParaRPr lang="ko-KR" sz="1300" dirty="0"/>
          </a:p>
        </p:txBody>
      </p:sp>
      <p:sp>
        <p:nvSpPr>
          <p:cNvPr id="18" name="Text 16"/>
          <p:cNvSpPr/>
          <p:nvPr/>
        </p:nvSpPr>
        <p:spPr>
          <a:xfrm>
            <a:off x="7059168" y="3200400"/>
            <a:ext cx="4251960" cy="384048"/>
          </a:xfrm>
          <a:prstGeom prst="rect">
            <a:avLst/>
          </a:prstGeom>
          <a:noFill/>
          <a:ln/>
        </p:spPr>
        <p:txBody>
          <a:bodyPr wrap="square" lIns="0" tIns="0" rIns="0" bIns="0" rtlCol="0" anchor="ctr"/>
          <a:lstStyle/>
          <a:p>
            <a:pPr marL="0" indent="0">
              <a:buNone/>
            </a:pPr>
            <a:r>
              <a:rPr lang="ko-KR" altLang="en-US" sz="1800" dirty="0">
                <a:solidFill>
                  <a:srgbClr val="FFFFFF"/>
                </a:solidFill>
                <a:latin typeface="Noto Sans KR" pitchFamily="34" charset="0"/>
                <a:ea typeface="Noto Sans KR" pitchFamily="34" charset="-122"/>
                <a:cs typeface="Noto Sans KR" pitchFamily="34" charset="-120"/>
              </a:rPr>
              <a:t>직원은 무엇을 배워야 할까?</a:t>
            </a:r>
            <a:endParaRPr lang="ko-KR" sz="1800" dirty="0"/>
          </a:p>
        </p:txBody>
      </p:sp>
      <p:sp>
        <p:nvSpPr>
          <p:cNvPr id="19" name="Shape 17"/>
          <p:cNvSpPr/>
          <p:nvPr/>
        </p:nvSpPr>
        <p:spPr>
          <a:xfrm>
            <a:off x="6519672" y="3685032"/>
            <a:ext cx="4837176" cy="0"/>
          </a:xfrm>
          <a:prstGeom prst="line">
            <a:avLst/>
          </a:prstGeom>
          <a:noFill/>
          <a:ln w="7620">
            <a:solidFill>
              <a:srgbClr val="30425D"/>
            </a:solidFill>
            <a:prstDash val="solid"/>
          </a:ln>
        </p:spPr>
      </p:sp>
      <p:sp>
        <p:nvSpPr>
          <p:cNvPr id="20" name="Text 18"/>
          <p:cNvSpPr/>
          <p:nvPr/>
        </p:nvSpPr>
        <p:spPr>
          <a:xfrm>
            <a:off x="6510528" y="3822192"/>
            <a:ext cx="365760" cy="365760"/>
          </a:xfrm>
          <a:prstGeom prst="rect">
            <a:avLst/>
          </a:prstGeom>
          <a:noFill/>
          <a:ln/>
        </p:spPr>
        <p:txBody>
          <a:bodyPr wrap="square" lIns="0" tIns="0" rIns="0" bIns="0" rtlCol="0" anchor="ctr"/>
          <a:lstStyle/>
          <a:p>
            <a:pPr marL="0" indent="0">
              <a:buNone/>
            </a:pPr>
            <a:r>
              <a:rPr lang="ko-KR" altLang="en-US" sz="1300" b="1" dirty="0">
                <a:solidFill>
                  <a:srgbClr val="23B8DA"/>
                </a:solidFill>
                <a:latin typeface="Noto Sans KR" pitchFamily="34" charset="0"/>
                <a:ea typeface="Noto Sans KR" pitchFamily="34" charset="-122"/>
                <a:cs typeface="Noto Sans KR" pitchFamily="34" charset="-120"/>
              </a:rPr>
              <a:t>04</a:t>
            </a:r>
            <a:endParaRPr lang="ko-KR" sz="1300" dirty="0"/>
          </a:p>
        </p:txBody>
      </p:sp>
      <p:sp>
        <p:nvSpPr>
          <p:cNvPr id="21" name="Text 19"/>
          <p:cNvSpPr/>
          <p:nvPr/>
        </p:nvSpPr>
        <p:spPr>
          <a:xfrm>
            <a:off x="7059168" y="3822192"/>
            <a:ext cx="4251960" cy="384048"/>
          </a:xfrm>
          <a:prstGeom prst="rect">
            <a:avLst/>
          </a:prstGeom>
          <a:noFill/>
          <a:ln/>
        </p:spPr>
        <p:txBody>
          <a:bodyPr wrap="square" lIns="0" tIns="0" rIns="0" bIns="0" rtlCol="0" anchor="ctr"/>
          <a:lstStyle/>
          <a:p>
            <a:pPr marL="0" indent="0">
              <a:buNone/>
            </a:pPr>
            <a:r>
              <a:rPr lang="ko-KR" altLang="en-US" sz="1800" dirty="0">
                <a:solidFill>
                  <a:srgbClr val="FFFFFF"/>
                </a:solidFill>
                <a:latin typeface="Noto Sans KR" pitchFamily="34" charset="0"/>
                <a:ea typeface="Noto Sans KR" pitchFamily="34" charset="-122"/>
                <a:cs typeface="Noto Sans KR" pitchFamily="34" charset="-120"/>
              </a:rPr>
              <a:t>새로운 사업 기회는 어디에 있을까?</a:t>
            </a:r>
            <a:endParaRPr lang="ko-KR" sz="1800" dirty="0"/>
          </a:p>
        </p:txBody>
      </p:sp>
      <p:sp>
        <p:nvSpPr>
          <p:cNvPr id="22" name="Shape 20"/>
          <p:cNvSpPr/>
          <p:nvPr/>
        </p:nvSpPr>
        <p:spPr>
          <a:xfrm>
            <a:off x="6519672" y="4306824"/>
            <a:ext cx="4837176" cy="0"/>
          </a:xfrm>
          <a:prstGeom prst="line">
            <a:avLst/>
          </a:prstGeom>
          <a:noFill/>
          <a:ln w="7620">
            <a:solidFill>
              <a:srgbClr val="30425D"/>
            </a:solidFill>
            <a:prstDash val="solid"/>
          </a:ln>
        </p:spPr>
      </p:sp>
      <p:sp>
        <p:nvSpPr>
          <p:cNvPr id="23" name="Text 21"/>
          <p:cNvSpPr/>
          <p:nvPr/>
        </p:nvSpPr>
        <p:spPr>
          <a:xfrm>
            <a:off x="6510528" y="4443984"/>
            <a:ext cx="365760" cy="365760"/>
          </a:xfrm>
          <a:prstGeom prst="rect">
            <a:avLst/>
          </a:prstGeom>
          <a:noFill/>
          <a:ln/>
        </p:spPr>
        <p:txBody>
          <a:bodyPr wrap="square" lIns="0" tIns="0" rIns="0" bIns="0" rtlCol="0" anchor="ctr"/>
          <a:lstStyle/>
          <a:p>
            <a:pPr marL="0" indent="0">
              <a:buNone/>
            </a:pPr>
            <a:r>
              <a:rPr lang="ko-KR" altLang="en-US" sz="1300" b="1" dirty="0">
                <a:solidFill>
                  <a:srgbClr val="23B8DA"/>
                </a:solidFill>
                <a:latin typeface="Noto Sans KR" pitchFamily="34" charset="0"/>
                <a:ea typeface="Noto Sans KR" pitchFamily="34" charset="-122"/>
                <a:cs typeface="Noto Sans KR" pitchFamily="34" charset="-120"/>
              </a:rPr>
              <a:t>05</a:t>
            </a:r>
            <a:endParaRPr lang="ko-KR" sz="1300" dirty="0"/>
          </a:p>
        </p:txBody>
      </p:sp>
      <p:sp>
        <p:nvSpPr>
          <p:cNvPr id="24" name="Text 22"/>
          <p:cNvSpPr/>
          <p:nvPr/>
        </p:nvSpPr>
        <p:spPr>
          <a:xfrm>
            <a:off x="7059168" y="4443984"/>
            <a:ext cx="4251960" cy="384048"/>
          </a:xfrm>
          <a:prstGeom prst="rect">
            <a:avLst/>
          </a:prstGeom>
          <a:noFill/>
          <a:ln/>
        </p:spPr>
        <p:txBody>
          <a:bodyPr wrap="square" lIns="0" tIns="0" rIns="0" bIns="0" rtlCol="0" anchor="ctr"/>
          <a:lstStyle/>
          <a:p>
            <a:pPr marL="0" indent="0">
              <a:buNone/>
            </a:pPr>
            <a:r>
              <a:rPr lang="ko-KR" altLang="en-US" sz="1800" dirty="0">
                <a:solidFill>
                  <a:srgbClr val="FFFFFF"/>
                </a:solidFill>
                <a:latin typeface="Noto Sans KR" pitchFamily="34" charset="0"/>
                <a:ea typeface="Noto Sans KR" pitchFamily="34" charset="-122"/>
                <a:cs typeface="Noto Sans KR" pitchFamily="34" charset="-120"/>
              </a:rPr>
              <a:t>언제 작은 실험을 시작할까?</a:t>
            </a:r>
            <a:endParaRPr lang="ko-KR" sz="1800" dirty="0"/>
          </a:p>
        </p:txBody>
      </p:sp>
      <p:sp>
        <p:nvSpPr>
          <p:cNvPr id="25" name="Shape 23"/>
          <p:cNvSpPr/>
          <p:nvPr/>
        </p:nvSpPr>
        <p:spPr>
          <a:xfrm>
            <a:off x="6519672" y="4928616"/>
            <a:ext cx="4837176" cy="0"/>
          </a:xfrm>
          <a:prstGeom prst="line">
            <a:avLst/>
          </a:prstGeom>
          <a:noFill/>
          <a:ln w="7620">
            <a:solidFill>
              <a:srgbClr val="30425D"/>
            </a:solidFill>
            <a:prstDash val="solid"/>
          </a:ln>
        </p:spPr>
      </p:sp>
      <p:sp>
        <p:nvSpPr>
          <p:cNvPr id="26" name="Text 24"/>
          <p:cNvSpPr/>
          <p:nvPr/>
        </p:nvSpPr>
        <p:spPr>
          <a:xfrm>
            <a:off x="1133856" y="5724144"/>
            <a:ext cx="1234440" cy="34747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이해</a:t>
            </a:r>
            <a:endParaRPr lang="ko-KR" sz="1900" dirty="0"/>
          </a:p>
        </p:txBody>
      </p:sp>
      <p:sp>
        <p:nvSpPr>
          <p:cNvPr id="27" name="Shape 25"/>
          <p:cNvSpPr/>
          <p:nvPr/>
        </p:nvSpPr>
        <p:spPr>
          <a:xfrm>
            <a:off x="2505456" y="5897880"/>
            <a:ext cx="530352" cy="0"/>
          </a:xfrm>
          <a:prstGeom prst="line">
            <a:avLst/>
          </a:prstGeom>
          <a:noFill/>
          <a:ln w="19050">
            <a:solidFill>
              <a:srgbClr val="6B819E"/>
            </a:solidFill>
            <a:prstDash val="solid"/>
            <a:headEnd type="none"/>
            <a:tailEnd type="triangle"/>
          </a:ln>
        </p:spPr>
      </p:sp>
      <p:sp>
        <p:nvSpPr>
          <p:cNvPr id="28" name="Text 26"/>
          <p:cNvSpPr/>
          <p:nvPr/>
        </p:nvSpPr>
        <p:spPr>
          <a:xfrm>
            <a:off x="3255264" y="5724144"/>
            <a:ext cx="1234440" cy="34747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체험</a:t>
            </a:r>
            <a:endParaRPr lang="ko-KR" sz="1900" dirty="0"/>
          </a:p>
        </p:txBody>
      </p:sp>
      <p:sp>
        <p:nvSpPr>
          <p:cNvPr id="29" name="Shape 27"/>
          <p:cNvSpPr/>
          <p:nvPr/>
        </p:nvSpPr>
        <p:spPr>
          <a:xfrm>
            <a:off x="4626864" y="5897880"/>
            <a:ext cx="530352" cy="0"/>
          </a:xfrm>
          <a:prstGeom prst="line">
            <a:avLst/>
          </a:prstGeom>
          <a:noFill/>
          <a:ln w="19050">
            <a:solidFill>
              <a:srgbClr val="6B819E"/>
            </a:solidFill>
            <a:prstDash val="solid"/>
            <a:headEnd type="none"/>
            <a:tailEnd type="triangle"/>
          </a:ln>
        </p:spPr>
      </p:sp>
      <p:sp>
        <p:nvSpPr>
          <p:cNvPr id="30" name="Text 28"/>
          <p:cNvSpPr/>
          <p:nvPr/>
        </p:nvSpPr>
        <p:spPr>
          <a:xfrm>
            <a:off x="5376672" y="5724144"/>
            <a:ext cx="1234440" cy="34747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학습</a:t>
            </a:r>
            <a:endParaRPr lang="ko-KR" sz="1900" dirty="0"/>
          </a:p>
        </p:txBody>
      </p:sp>
      <p:sp>
        <p:nvSpPr>
          <p:cNvPr id="31" name="Shape 29"/>
          <p:cNvSpPr/>
          <p:nvPr/>
        </p:nvSpPr>
        <p:spPr>
          <a:xfrm>
            <a:off x="6748272" y="5897880"/>
            <a:ext cx="530352" cy="0"/>
          </a:xfrm>
          <a:prstGeom prst="line">
            <a:avLst/>
          </a:prstGeom>
          <a:noFill/>
          <a:ln w="19050">
            <a:solidFill>
              <a:srgbClr val="6B819E"/>
            </a:solidFill>
            <a:prstDash val="solid"/>
            <a:headEnd type="none"/>
            <a:tailEnd type="triangle"/>
          </a:ln>
        </p:spPr>
      </p:sp>
      <p:sp>
        <p:nvSpPr>
          <p:cNvPr id="32" name="Text 30"/>
          <p:cNvSpPr/>
          <p:nvPr/>
        </p:nvSpPr>
        <p:spPr>
          <a:xfrm>
            <a:off x="7498080" y="5724144"/>
            <a:ext cx="1234440" cy="34747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평가</a:t>
            </a:r>
            <a:endParaRPr lang="ko-KR" sz="1900" dirty="0"/>
          </a:p>
        </p:txBody>
      </p:sp>
      <p:sp>
        <p:nvSpPr>
          <p:cNvPr id="33" name="Shape 31"/>
          <p:cNvSpPr/>
          <p:nvPr/>
        </p:nvSpPr>
        <p:spPr>
          <a:xfrm>
            <a:off x="8869680" y="5897880"/>
            <a:ext cx="530352" cy="0"/>
          </a:xfrm>
          <a:prstGeom prst="line">
            <a:avLst/>
          </a:prstGeom>
          <a:noFill/>
          <a:ln w="19050">
            <a:solidFill>
              <a:srgbClr val="6B819E"/>
            </a:solidFill>
            <a:prstDash val="solid"/>
            <a:headEnd type="none"/>
            <a:tailEnd type="triangle"/>
          </a:ln>
        </p:spPr>
      </p:sp>
      <p:sp>
        <p:nvSpPr>
          <p:cNvPr id="34" name="Text 32"/>
          <p:cNvSpPr/>
          <p:nvPr/>
        </p:nvSpPr>
        <p:spPr>
          <a:xfrm>
            <a:off x="9619488" y="5724144"/>
            <a:ext cx="1234440" cy="347472"/>
          </a:xfrm>
          <a:prstGeom prst="rect">
            <a:avLst/>
          </a:prstGeom>
          <a:noFill/>
          <a:ln/>
        </p:spPr>
        <p:txBody>
          <a:bodyPr wrap="square" lIns="0" tIns="0" rIns="0" bIns="0" rtlCol="0" anchor="ctr"/>
          <a:lstStyle/>
          <a:p>
            <a:pPr marL="0" indent="0" algn="ctr">
              <a:buNone/>
            </a:pPr>
            <a:r>
              <a:rPr lang="ko-KR" altLang="en-US" sz="1900" b="1" dirty="0">
                <a:solidFill>
                  <a:srgbClr val="23B8DA"/>
                </a:solidFill>
                <a:latin typeface="Noto Sans KR" pitchFamily="34" charset="0"/>
                <a:ea typeface="Noto Sans KR" pitchFamily="34" charset="-122"/>
                <a:cs typeface="Noto Sans KR" pitchFamily="34" charset="-120"/>
              </a:rPr>
              <a:t>도입</a:t>
            </a:r>
            <a:endParaRPr lang="ko-KR"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기술을 이해할 사람, 현장에서 활용할 사람</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의사결정자부터 재직자와 학생까지, 준비해야 할 역량이 다릅니다</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06</a:t>
            </a:r>
            <a:endParaRPr lang="ko-KR" sz="1000" dirty="0"/>
          </a:p>
        </p:txBody>
      </p:sp>
      <p:sp>
        <p:nvSpPr>
          <p:cNvPr id="8" name="Shape 6"/>
          <p:cNvSpPr/>
          <p:nvPr/>
        </p:nvSpPr>
        <p:spPr>
          <a:xfrm>
            <a:off x="758952" y="1819656"/>
            <a:ext cx="3374136" cy="3621024"/>
          </a:xfrm>
          <a:prstGeom prst="rect">
            <a:avLst/>
          </a:prstGeom>
          <a:solidFill>
            <a:srgbClr val="F3F6FB"/>
          </a:solidFill>
          <a:ln w="12700">
            <a:solidFill>
              <a:srgbClr val="F3F6FB"/>
            </a:solidFill>
            <a:prstDash val="solid"/>
          </a:ln>
        </p:spPr>
      </p:sp>
      <p:sp>
        <p:nvSpPr>
          <p:cNvPr id="9" name="Shape 7"/>
          <p:cNvSpPr/>
          <p:nvPr/>
        </p:nvSpPr>
        <p:spPr>
          <a:xfrm>
            <a:off x="758952" y="1819656"/>
            <a:ext cx="3374136" cy="41148"/>
          </a:xfrm>
          <a:prstGeom prst="rect">
            <a:avLst/>
          </a:prstGeom>
          <a:solidFill>
            <a:srgbClr val="23B8DA"/>
          </a:solidFill>
          <a:ln w="12700">
            <a:solidFill>
              <a:srgbClr val="23B8DA"/>
            </a:solidFill>
            <a:prstDash val="solid"/>
          </a:ln>
        </p:spPr>
      </p:sp>
      <p:sp>
        <p:nvSpPr>
          <p:cNvPr id="10" name="Text 8"/>
          <p:cNvSpPr/>
          <p:nvPr/>
        </p:nvSpPr>
        <p:spPr>
          <a:xfrm>
            <a:off x="987552" y="2075687"/>
            <a:ext cx="650748" cy="402337"/>
          </a:xfrm>
          <a:prstGeom prst="rect">
            <a:avLst/>
          </a:prstGeom>
          <a:noFill/>
          <a:ln/>
        </p:spPr>
        <p:txBody>
          <a:bodyPr wrap="square" lIns="0" tIns="0" rIns="0" bIns="0" rtlCol="0" anchor="ctr"/>
          <a:lstStyle/>
          <a:p>
            <a:pPr marL="0" indent="0">
              <a:buNone/>
            </a:pPr>
            <a:r>
              <a:rPr lang="ko-KR" altLang="en-US" sz="2000" b="1" kern="0" spc="110" dirty="0">
                <a:solidFill>
                  <a:srgbClr val="245FF2"/>
                </a:solidFill>
                <a:latin typeface="Noto Sans KR" pitchFamily="34" charset="0"/>
                <a:ea typeface="Noto Sans KR" pitchFamily="34" charset="-122"/>
                <a:cs typeface="Noto Sans KR" pitchFamily="34" charset="-120"/>
              </a:rPr>
              <a:t>01</a:t>
            </a:r>
            <a:endParaRPr lang="ko-KR" sz="2000" dirty="0"/>
          </a:p>
        </p:txBody>
      </p:sp>
      <p:sp>
        <p:nvSpPr>
          <p:cNvPr id="11" name="Text 9"/>
          <p:cNvSpPr/>
          <p:nvPr/>
        </p:nvSpPr>
        <p:spPr>
          <a:xfrm>
            <a:off x="987552" y="2532888"/>
            <a:ext cx="2953512" cy="438912"/>
          </a:xfrm>
          <a:prstGeom prst="rect">
            <a:avLst/>
          </a:prstGeom>
          <a:noFill/>
          <a:ln/>
        </p:spPr>
        <p:txBody>
          <a:bodyPr wrap="square" lIns="0" tIns="0" rIns="0" bIns="0" rtlCol="0" anchor="ctr"/>
          <a:lstStyle/>
          <a:p>
            <a:pPr marL="0" indent="0">
              <a:buNone/>
            </a:pPr>
            <a:r>
              <a:rPr lang="ko-KR" altLang="en-US" sz="2500" b="1" dirty="0">
                <a:solidFill>
                  <a:srgbClr val="172A45"/>
                </a:solidFill>
                <a:latin typeface="Noto Sans KR" pitchFamily="34" charset="0"/>
                <a:ea typeface="Noto Sans KR" pitchFamily="34" charset="-122"/>
                <a:cs typeface="Noto Sans KR" pitchFamily="34" charset="-120"/>
              </a:rPr>
              <a:t>사업가·투자자</a:t>
            </a:r>
            <a:endParaRPr lang="ko-KR" sz="2500" dirty="0"/>
          </a:p>
        </p:txBody>
      </p:sp>
      <p:sp>
        <p:nvSpPr>
          <p:cNvPr id="12" name="Text 10"/>
          <p:cNvSpPr/>
          <p:nvPr/>
        </p:nvSpPr>
        <p:spPr>
          <a:xfrm>
            <a:off x="987552" y="3108960"/>
            <a:ext cx="2953512" cy="301752"/>
          </a:xfrm>
          <a:prstGeom prst="rect">
            <a:avLst/>
          </a:prstGeom>
          <a:noFill/>
          <a:ln/>
        </p:spPr>
        <p:txBody>
          <a:bodyPr wrap="square" lIns="0" tIns="0" rIns="0" bIns="0" rtlCol="0" anchor="ctr"/>
          <a:lstStyle/>
          <a:p>
            <a:pPr marL="0" indent="0">
              <a:buNone/>
            </a:pPr>
            <a:r>
              <a:rPr lang="ko-KR" altLang="en-US" sz="1600" b="1" dirty="0">
                <a:solidFill>
                  <a:srgbClr val="245FF2"/>
                </a:solidFill>
                <a:latin typeface="Noto Sans KR" pitchFamily="34" charset="0"/>
                <a:ea typeface="Noto Sans KR" pitchFamily="34" charset="-122"/>
                <a:cs typeface="Noto Sans KR" pitchFamily="34" charset="-120"/>
              </a:rPr>
              <a:t>가능성과 적합성 판단</a:t>
            </a:r>
            <a:endParaRPr lang="ko-KR" sz="1600" dirty="0"/>
          </a:p>
        </p:txBody>
      </p:sp>
      <p:sp>
        <p:nvSpPr>
          <p:cNvPr id="13" name="Text 11"/>
          <p:cNvSpPr/>
          <p:nvPr/>
        </p:nvSpPr>
        <p:spPr>
          <a:xfrm>
            <a:off x="987552" y="3685032"/>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시장 방향과 기술 이해</a:t>
            </a:r>
            <a:endParaRPr lang="ko-KR" sz="1550" dirty="0"/>
          </a:p>
        </p:txBody>
      </p:sp>
      <p:sp>
        <p:nvSpPr>
          <p:cNvPr id="14" name="Text 12"/>
          <p:cNvSpPr/>
          <p:nvPr/>
        </p:nvSpPr>
        <p:spPr>
          <a:xfrm>
            <a:off x="987552" y="4041648"/>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새로운 사업 기회 탐색</a:t>
            </a:r>
            <a:endParaRPr lang="ko-KR" sz="1550" dirty="0"/>
          </a:p>
        </p:txBody>
      </p:sp>
      <p:sp>
        <p:nvSpPr>
          <p:cNvPr id="15" name="Text 13"/>
          <p:cNvSpPr/>
          <p:nvPr/>
        </p:nvSpPr>
        <p:spPr>
          <a:xfrm>
            <a:off x="987552" y="4398264"/>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기술·도입 가능성 평가</a:t>
            </a:r>
            <a:endParaRPr lang="ko-KR" sz="1550" dirty="0"/>
          </a:p>
        </p:txBody>
      </p:sp>
      <p:sp>
        <p:nvSpPr>
          <p:cNvPr id="16" name="Text 14"/>
          <p:cNvSpPr/>
          <p:nvPr/>
        </p:nvSpPr>
        <p:spPr>
          <a:xfrm>
            <a:off x="987552" y="4754880"/>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사업·투자 검토의 관점 정립</a:t>
            </a:r>
            <a:endParaRPr lang="ko-KR" sz="1550" dirty="0"/>
          </a:p>
        </p:txBody>
      </p:sp>
      <p:sp>
        <p:nvSpPr>
          <p:cNvPr id="17" name="Shape 15"/>
          <p:cNvSpPr/>
          <p:nvPr/>
        </p:nvSpPr>
        <p:spPr>
          <a:xfrm>
            <a:off x="4407408" y="1819656"/>
            <a:ext cx="3374136" cy="3621024"/>
          </a:xfrm>
          <a:prstGeom prst="rect">
            <a:avLst/>
          </a:prstGeom>
          <a:solidFill>
            <a:srgbClr val="EDF3FF"/>
          </a:solidFill>
          <a:ln w="12700">
            <a:solidFill>
              <a:srgbClr val="EDF3FF"/>
            </a:solidFill>
            <a:prstDash val="solid"/>
          </a:ln>
        </p:spPr>
      </p:sp>
      <p:sp>
        <p:nvSpPr>
          <p:cNvPr id="18" name="Shape 16"/>
          <p:cNvSpPr/>
          <p:nvPr/>
        </p:nvSpPr>
        <p:spPr>
          <a:xfrm>
            <a:off x="4407408" y="1819656"/>
            <a:ext cx="3374136" cy="41148"/>
          </a:xfrm>
          <a:prstGeom prst="rect">
            <a:avLst/>
          </a:prstGeom>
          <a:solidFill>
            <a:srgbClr val="245FF2"/>
          </a:solidFill>
          <a:ln w="12700">
            <a:solidFill>
              <a:srgbClr val="245FF2"/>
            </a:solidFill>
            <a:prstDash val="solid"/>
          </a:ln>
        </p:spPr>
      </p:sp>
      <p:sp>
        <p:nvSpPr>
          <p:cNvPr id="19" name="Text 17"/>
          <p:cNvSpPr/>
          <p:nvPr/>
        </p:nvSpPr>
        <p:spPr>
          <a:xfrm>
            <a:off x="4636008" y="2075688"/>
            <a:ext cx="548640" cy="219456"/>
          </a:xfrm>
          <a:prstGeom prst="rect">
            <a:avLst/>
          </a:prstGeom>
          <a:noFill/>
          <a:ln/>
        </p:spPr>
        <p:txBody>
          <a:bodyPr wrap="square" lIns="0" tIns="0" rIns="0" bIns="0" rtlCol="0" anchor="ctr"/>
          <a:lstStyle/>
          <a:p>
            <a:pPr marL="0" indent="0">
              <a:buNone/>
            </a:pPr>
            <a:r>
              <a:rPr lang="ko-KR" altLang="en-US" sz="2000" b="1" kern="0" spc="110" dirty="0">
                <a:solidFill>
                  <a:srgbClr val="245FF2"/>
                </a:solidFill>
                <a:latin typeface="Noto Sans KR" pitchFamily="34" charset="0"/>
                <a:ea typeface="Noto Sans KR" pitchFamily="34" charset="-122"/>
                <a:cs typeface="Noto Sans KR" pitchFamily="34" charset="-120"/>
              </a:rPr>
              <a:t>02</a:t>
            </a:r>
            <a:endParaRPr lang="ko-KR" sz="2000" dirty="0"/>
          </a:p>
        </p:txBody>
      </p:sp>
      <p:sp>
        <p:nvSpPr>
          <p:cNvPr id="20" name="Text 18"/>
          <p:cNvSpPr/>
          <p:nvPr/>
        </p:nvSpPr>
        <p:spPr>
          <a:xfrm>
            <a:off x="4636008" y="2532888"/>
            <a:ext cx="2953512" cy="438912"/>
          </a:xfrm>
          <a:prstGeom prst="rect">
            <a:avLst/>
          </a:prstGeom>
          <a:noFill/>
          <a:ln/>
        </p:spPr>
        <p:txBody>
          <a:bodyPr wrap="square" lIns="0" tIns="0" rIns="0" bIns="0" rtlCol="0" anchor="ctr"/>
          <a:lstStyle/>
          <a:p>
            <a:pPr marL="0" indent="0">
              <a:buNone/>
            </a:pPr>
            <a:r>
              <a:rPr lang="ko-KR" altLang="en-US" sz="2500" b="1" dirty="0">
                <a:solidFill>
                  <a:srgbClr val="172A45"/>
                </a:solidFill>
                <a:latin typeface="Noto Sans KR" pitchFamily="34" charset="0"/>
                <a:ea typeface="Noto Sans KR" pitchFamily="34" charset="-122"/>
                <a:cs typeface="Noto Sans KR" pitchFamily="34" charset="-120"/>
              </a:rPr>
              <a:t>산업체 재직자</a:t>
            </a:r>
            <a:endParaRPr lang="ko-KR" sz="2500" dirty="0"/>
          </a:p>
        </p:txBody>
      </p:sp>
      <p:sp>
        <p:nvSpPr>
          <p:cNvPr id="21" name="Text 19"/>
          <p:cNvSpPr/>
          <p:nvPr/>
        </p:nvSpPr>
        <p:spPr>
          <a:xfrm>
            <a:off x="4636008" y="3108960"/>
            <a:ext cx="2953512" cy="301752"/>
          </a:xfrm>
          <a:prstGeom prst="rect">
            <a:avLst/>
          </a:prstGeom>
          <a:noFill/>
          <a:ln/>
        </p:spPr>
        <p:txBody>
          <a:bodyPr wrap="square" lIns="0" tIns="0" rIns="0" bIns="0" rtlCol="0" anchor="ctr"/>
          <a:lstStyle/>
          <a:p>
            <a:pPr marL="0" indent="0">
              <a:buNone/>
            </a:pPr>
            <a:r>
              <a:rPr lang="ko-KR" altLang="en-US" sz="1600" b="1" dirty="0">
                <a:solidFill>
                  <a:srgbClr val="245FF2"/>
                </a:solidFill>
                <a:latin typeface="Noto Sans KR" pitchFamily="34" charset="0"/>
                <a:ea typeface="Noto Sans KR" pitchFamily="34" charset="-122"/>
                <a:cs typeface="Noto Sans KR" pitchFamily="34" charset="-120"/>
              </a:rPr>
              <a:t>현장 활용 역량 확보</a:t>
            </a:r>
            <a:endParaRPr lang="ko-KR" sz="1600" dirty="0"/>
          </a:p>
        </p:txBody>
      </p:sp>
      <p:sp>
        <p:nvSpPr>
          <p:cNvPr id="22" name="Text 20"/>
          <p:cNvSpPr/>
          <p:nvPr/>
        </p:nvSpPr>
        <p:spPr>
          <a:xfrm>
            <a:off x="4636008" y="3685032"/>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피지컬 AI 기본 이해</a:t>
            </a:r>
            <a:endParaRPr lang="ko-KR" sz="1550" dirty="0"/>
          </a:p>
        </p:txBody>
      </p:sp>
      <p:sp>
        <p:nvSpPr>
          <p:cNvPr id="23" name="Text 21"/>
          <p:cNvSpPr/>
          <p:nvPr/>
        </p:nvSpPr>
        <p:spPr>
          <a:xfrm>
            <a:off x="4636008" y="4041648"/>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안전한 로봇 상호작용</a:t>
            </a:r>
            <a:endParaRPr lang="ko-KR" sz="1550" dirty="0"/>
          </a:p>
        </p:txBody>
      </p:sp>
      <p:sp>
        <p:nvSpPr>
          <p:cNvPr id="24" name="Text 22"/>
          <p:cNvSpPr/>
          <p:nvPr/>
        </p:nvSpPr>
        <p:spPr>
          <a:xfrm>
            <a:off x="4636008" y="4398264"/>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기본 조작과 운영 학습</a:t>
            </a:r>
            <a:endParaRPr lang="ko-KR" sz="1550" dirty="0"/>
          </a:p>
        </p:txBody>
      </p:sp>
      <p:sp>
        <p:nvSpPr>
          <p:cNvPr id="25" name="Text 23"/>
          <p:cNvSpPr/>
          <p:nvPr/>
        </p:nvSpPr>
        <p:spPr>
          <a:xfrm>
            <a:off x="4636008" y="4754880"/>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달라지는 업무 환경 준비</a:t>
            </a:r>
            <a:endParaRPr lang="ko-KR" sz="1550" dirty="0"/>
          </a:p>
        </p:txBody>
      </p:sp>
      <p:sp>
        <p:nvSpPr>
          <p:cNvPr id="26" name="Shape 24"/>
          <p:cNvSpPr/>
          <p:nvPr/>
        </p:nvSpPr>
        <p:spPr>
          <a:xfrm>
            <a:off x="8055864" y="1819656"/>
            <a:ext cx="3374136" cy="3621024"/>
          </a:xfrm>
          <a:prstGeom prst="rect">
            <a:avLst/>
          </a:prstGeom>
          <a:solidFill>
            <a:srgbClr val="F3F6FB"/>
          </a:solidFill>
          <a:ln w="12700">
            <a:solidFill>
              <a:srgbClr val="F3F6FB"/>
            </a:solidFill>
            <a:prstDash val="solid"/>
          </a:ln>
        </p:spPr>
      </p:sp>
      <p:sp>
        <p:nvSpPr>
          <p:cNvPr id="27" name="Shape 25"/>
          <p:cNvSpPr/>
          <p:nvPr/>
        </p:nvSpPr>
        <p:spPr>
          <a:xfrm>
            <a:off x="8055864" y="1819656"/>
            <a:ext cx="3374136" cy="41148"/>
          </a:xfrm>
          <a:prstGeom prst="rect">
            <a:avLst/>
          </a:prstGeom>
          <a:solidFill>
            <a:srgbClr val="23B8DA"/>
          </a:solidFill>
          <a:ln w="12700">
            <a:solidFill>
              <a:srgbClr val="23B8DA"/>
            </a:solidFill>
            <a:prstDash val="solid"/>
          </a:ln>
        </p:spPr>
      </p:sp>
      <p:sp>
        <p:nvSpPr>
          <p:cNvPr id="28" name="Text 26"/>
          <p:cNvSpPr/>
          <p:nvPr/>
        </p:nvSpPr>
        <p:spPr>
          <a:xfrm>
            <a:off x="8284464" y="2075688"/>
            <a:ext cx="548640" cy="219456"/>
          </a:xfrm>
          <a:prstGeom prst="rect">
            <a:avLst/>
          </a:prstGeom>
          <a:noFill/>
          <a:ln/>
        </p:spPr>
        <p:txBody>
          <a:bodyPr wrap="square" lIns="0" tIns="0" rIns="0" bIns="0" rtlCol="0" anchor="ctr"/>
          <a:lstStyle/>
          <a:p>
            <a:pPr marL="0" indent="0">
              <a:buNone/>
            </a:pPr>
            <a:r>
              <a:rPr lang="ko-KR" altLang="en-US" sz="2000" b="1" kern="0" spc="110" dirty="0">
                <a:solidFill>
                  <a:srgbClr val="245FF2"/>
                </a:solidFill>
                <a:latin typeface="Noto Sans KR" pitchFamily="34" charset="0"/>
                <a:ea typeface="Noto Sans KR" pitchFamily="34" charset="-122"/>
                <a:cs typeface="Noto Sans KR" pitchFamily="34" charset="-120"/>
              </a:rPr>
              <a:t>03</a:t>
            </a:r>
            <a:endParaRPr lang="ko-KR" sz="2000" dirty="0"/>
          </a:p>
        </p:txBody>
      </p:sp>
      <p:sp>
        <p:nvSpPr>
          <p:cNvPr id="29" name="Text 27"/>
          <p:cNvSpPr/>
          <p:nvPr/>
        </p:nvSpPr>
        <p:spPr>
          <a:xfrm>
            <a:off x="8284464" y="2532888"/>
            <a:ext cx="2953512" cy="438912"/>
          </a:xfrm>
          <a:prstGeom prst="rect">
            <a:avLst/>
          </a:prstGeom>
          <a:noFill/>
          <a:ln/>
        </p:spPr>
        <p:txBody>
          <a:bodyPr wrap="square" lIns="0" tIns="0" rIns="0" bIns="0" rtlCol="0" anchor="ctr"/>
          <a:lstStyle/>
          <a:p>
            <a:pPr marL="0" indent="0">
              <a:buNone/>
            </a:pPr>
            <a:r>
              <a:rPr lang="ko-KR" altLang="en-US" sz="2500" b="1" dirty="0">
                <a:solidFill>
                  <a:srgbClr val="172A45"/>
                </a:solidFill>
                <a:latin typeface="Noto Sans KR" pitchFamily="34" charset="0"/>
                <a:ea typeface="Noto Sans KR" pitchFamily="34" charset="-122"/>
                <a:cs typeface="Noto Sans KR" pitchFamily="34" charset="-120"/>
              </a:rPr>
              <a:t>대학생</a:t>
            </a:r>
            <a:endParaRPr lang="ko-KR" sz="2500" dirty="0"/>
          </a:p>
        </p:txBody>
      </p:sp>
      <p:sp>
        <p:nvSpPr>
          <p:cNvPr id="30" name="Text 28"/>
          <p:cNvSpPr/>
          <p:nvPr/>
        </p:nvSpPr>
        <p:spPr>
          <a:xfrm>
            <a:off x="8284464" y="3108960"/>
            <a:ext cx="2953512" cy="301752"/>
          </a:xfrm>
          <a:prstGeom prst="rect">
            <a:avLst/>
          </a:prstGeom>
          <a:noFill/>
          <a:ln/>
        </p:spPr>
        <p:txBody>
          <a:bodyPr wrap="square" lIns="0" tIns="0" rIns="0" bIns="0" rtlCol="0" anchor="ctr"/>
          <a:lstStyle/>
          <a:p>
            <a:pPr marL="0" indent="0">
              <a:buNone/>
            </a:pPr>
            <a:r>
              <a:rPr lang="ko-KR" altLang="en-US" sz="1600" b="1" dirty="0">
                <a:solidFill>
                  <a:srgbClr val="245FF2"/>
                </a:solidFill>
                <a:latin typeface="Noto Sans KR" pitchFamily="34" charset="0"/>
                <a:ea typeface="Noto Sans KR" pitchFamily="34" charset="-122"/>
                <a:cs typeface="Noto Sans KR" pitchFamily="34" charset="-120"/>
              </a:rPr>
              <a:t>미래 산업 역량 학습</a:t>
            </a:r>
            <a:endParaRPr lang="ko-KR" sz="1600" dirty="0"/>
          </a:p>
        </p:txBody>
      </p:sp>
      <p:sp>
        <p:nvSpPr>
          <p:cNvPr id="31" name="Text 29"/>
          <p:cNvSpPr/>
          <p:nvPr/>
        </p:nvSpPr>
        <p:spPr>
          <a:xfrm>
            <a:off x="8284464" y="3685032"/>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AI와 로보틱스의 연결 이해</a:t>
            </a:r>
            <a:endParaRPr lang="ko-KR" sz="1550" dirty="0"/>
          </a:p>
        </p:txBody>
      </p:sp>
      <p:sp>
        <p:nvSpPr>
          <p:cNvPr id="32" name="Text 30"/>
          <p:cNvSpPr/>
          <p:nvPr/>
        </p:nvSpPr>
        <p:spPr>
          <a:xfrm>
            <a:off x="8284464" y="4041648"/>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실제 로봇 시스템 경험</a:t>
            </a:r>
            <a:endParaRPr lang="ko-KR" sz="1550" dirty="0"/>
          </a:p>
        </p:txBody>
      </p:sp>
      <p:sp>
        <p:nvSpPr>
          <p:cNvPr id="33" name="Text 31"/>
          <p:cNvSpPr/>
          <p:nvPr/>
        </p:nvSpPr>
        <p:spPr>
          <a:xfrm>
            <a:off x="8284464" y="4398264"/>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피지컬 AI 실습 역량 습득</a:t>
            </a:r>
            <a:endParaRPr lang="ko-KR" sz="1550" dirty="0"/>
          </a:p>
        </p:txBody>
      </p:sp>
      <p:sp>
        <p:nvSpPr>
          <p:cNvPr id="34" name="Text 32"/>
          <p:cNvSpPr/>
          <p:nvPr/>
        </p:nvSpPr>
        <p:spPr>
          <a:xfrm>
            <a:off x="8284464" y="4754880"/>
            <a:ext cx="2953512" cy="274320"/>
          </a:xfrm>
          <a:prstGeom prst="rect">
            <a:avLst/>
          </a:prstGeom>
          <a:noFill/>
          <a:ln/>
        </p:spPr>
        <p:txBody>
          <a:bodyPr wrap="square" lIns="0" tIns="0" rIns="0" bIns="0" rtlCol="0" anchor="ctr"/>
          <a:lstStyle/>
          <a:p>
            <a:pPr marL="0" indent="0">
              <a:buNone/>
            </a:pPr>
            <a:r>
              <a:rPr lang="ko-KR" altLang="en-US" sz="1550" dirty="0">
                <a:solidFill>
                  <a:srgbClr val="5D6C82"/>
                </a:solidFill>
                <a:latin typeface="Noto Sans KR" pitchFamily="34" charset="0"/>
                <a:ea typeface="Noto Sans KR" pitchFamily="34" charset="-122"/>
                <a:cs typeface="Noto Sans KR" pitchFamily="34" charset="-120"/>
              </a:rPr>
              <a:t>프로젝트와 진로 탐색</a:t>
            </a:r>
            <a:endParaRPr lang="ko-KR" sz="1550" dirty="0"/>
          </a:p>
        </p:txBody>
      </p:sp>
      <p:sp>
        <p:nvSpPr>
          <p:cNvPr id="35" name="Text 33"/>
          <p:cNvSpPr/>
          <p:nvPr/>
        </p:nvSpPr>
        <p:spPr>
          <a:xfrm>
            <a:off x="758952" y="5824728"/>
            <a:ext cx="10671048" cy="438912"/>
          </a:xfrm>
          <a:prstGeom prst="rect">
            <a:avLst/>
          </a:prstGeom>
          <a:noFill/>
          <a:ln/>
        </p:spPr>
        <p:txBody>
          <a:bodyPr wrap="square" lIns="0" tIns="0" rIns="0" bIns="0" rtlCol="0" anchor="ctr"/>
          <a:lstStyle/>
          <a:p>
            <a:pPr marL="0" indent="0" algn="ctr">
              <a:buNone/>
            </a:pPr>
            <a:r>
              <a:rPr lang="ko-KR" altLang="en-US" sz="2200" b="1" dirty="0">
                <a:solidFill>
                  <a:srgbClr val="172A45"/>
                </a:solidFill>
                <a:latin typeface="Noto Sans KR" pitchFamily="34" charset="0"/>
                <a:ea typeface="Noto Sans KR" pitchFamily="34" charset="-122"/>
                <a:cs typeface="Noto Sans KR" pitchFamily="34" charset="-120"/>
              </a:rPr>
              <a:t>피지컬 AI 준비는 기술 이해와 사람의 역량을 함께 높이는 과정입니다</a:t>
            </a:r>
            <a:endParaRPr lang="ko-KR"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지니에듀테크의 피지컬 AI 서비스</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교육 역량을 기반으로 체험과 기술 검토, 활용 준비를 연결하는 서비스 구성 제안</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07</a:t>
            </a:r>
            <a:endParaRPr lang="ko-KR" sz="1000" dirty="0"/>
          </a:p>
        </p:txBody>
      </p:sp>
      <p:sp>
        <p:nvSpPr>
          <p:cNvPr id="8" name="Shape 6"/>
          <p:cNvSpPr/>
          <p:nvPr/>
        </p:nvSpPr>
        <p:spPr>
          <a:xfrm>
            <a:off x="786384" y="2148840"/>
            <a:ext cx="2423160" cy="0"/>
          </a:xfrm>
          <a:prstGeom prst="line">
            <a:avLst/>
          </a:prstGeom>
          <a:noFill/>
          <a:ln w="38100">
            <a:solidFill>
              <a:srgbClr val="245FF2"/>
            </a:solidFill>
            <a:prstDash val="solid"/>
          </a:ln>
        </p:spPr>
      </p:sp>
      <p:sp>
        <p:nvSpPr>
          <p:cNvPr id="9" name="Text 7"/>
          <p:cNvSpPr/>
          <p:nvPr/>
        </p:nvSpPr>
        <p:spPr>
          <a:xfrm>
            <a:off x="786384" y="1775381"/>
            <a:ext cx="548640" cy="219456"/>
          </a:xfrm>
          <a:prstGeom prst="rect">
            <a:avLst/>
          </a:prstGeom>
          <a:noFill/>
          <a:ln/>
        </p:spPr>
        <p:txBody>
          <a:bodyPr wrap="square" lIns="0" tIns="0" rIns="0" bIns="0" rtlCol="0" anchor="ctr"/>
          <a:lstStyle/>
          <a:p>
            <a:pPr marL="0" indent="0">
              <a:buNone/>
            </a:pPr>
            <a:r>
              <a:rPr lang="ko-KR" altLang="en-US" sz="2000" b="1" kern="0" spc="110" dirty="0">
                <a:solidFill>
                  <a:srgbClr val="245FF2"/>
                </a:solidFill>
                <a:latin typeface="Noto Sans KR" pitchFamily="34" charset="0"/>
                <a:ea typeface="Noto Sans KR" pitchFamily="34" charset="-122"/>
                <a:cs typeface="Noto Sans KR" pitchFamily="34" charset="-120"/>
              </a:rPr>
              <a:t>01</a:t>
            </a:r>
            <a:endParaRPr lang="ko-KR" sz="2000" dirty="0"/>
          </a:p>
        </p:txBody>
      </p:sp>
      <p:sp>
        <p:nvSpPr>
          <p:cNvPr id="10" name="Text 8"/>
          <p:cNvSpPr/>
          <p:nvPr/>
        </p:nvSpPr>
        <p:spPr>
          <a:xfrm>
            <a:off x="786384" y="2441448"/>
            <a:ext cx="2468880" cy="484632"/>
          </a:xfrm>
          <a:prstGeom prst="rect">
            <a:avLst/>
          </a:prstGeom>
          <a:noFill/>
          <a:ln/>
        </p:spPr>
        <p:txBody>
          <a:bodyPr wrap="square" lIns="0" tIns="0" rIns="0" bIns="0" rtlCol="0" anchor="ctr"/>
          <a:lstStyle/>
          <a:p>
            <a:pPr marL="0" indent="0">
              <a:buNone/>
            </a:pPr>
            <a:r>
              <a:rPr lang="ko-KR" altLang="en-US" sz="2700" b="1" dirty="0">
                <a:solidFill>
                  <a:srgbClr val="172A45"/>
                </a:solidFill>
                <a:latin typeface="Noto Sans KR" pitchFamily="34" charset="0"/>
                <a:ea typeface="Noto Sans KR" pitchFamily="34" charset="-122"/>
                <a:cs typeface="Noto Sans KR" pitchFamily="34" charset="-120"/>
              </a:rPr>
              <a:t>교육</a:t>
            </a:r>
            <a:endParaRPr lang="ko-KR" sz="2700" dirty="0"/>
          </a:p>
        </p:txBody>
      </p:sp>
      <p:sp>
        <p:nvSpPr>
          <p:cNvPr id="11" name="Text 9"/>
          <p:cNvSpPr/>
          <p:nvPr/>
        </p:nvSpPr>
        <p:spPr>
          <a:xfrm>
            <a:off x="786384" y="3099816"/>
            <a:ext cx="2523744" cy="338328"/>
          </a:xfrm>
          <a:prstGeom prst="rect">
            <a:avLst/>
          </a:prstGeom>
          <a:noFill/>
          <a:ln/>
        </p:spPr>
        <p:txBody>
          <a:bodyPr wrap="square" lIns="0" tIns="0" rIns="0" bIns="0" rtlCol="0" anchor="ctr"/>
          <a:lstStyle/>
          <a:p>
            <a:pPr marL="0" indent="0">
              <a:buNone/>
            </a:pPr>
            <a:r>
              <a:rPr lang="ko-KR" altLang="en-US" sz="1450" b="1" dirty="0">
                <a:solidFill>
                  <a:srgbClr val="245FF2"/>
                </a:solidFill>
                <a:latin typeface="Noto Sans KR" pitchFamily="34" charset="0"/>
                <a:ea typeface="Noto Sans KR" pitchFamily="34" charset="-122"/>
                <a:cs typeface="Noto Sans KR" pitchFamily="34" charset="-120"/>
              </a:rPr>
              <a:t>대학생·산업체 재직자</a:t>
            </a:r>
            <a:endParaRPr lang="ko-KR" sz="1450" dirty="0"/>
          </a:p>
        </p:txBody>
      </p:sp>
      <p:sp>
        <p:nvSpPr>
          <p:cNvPr id="12" name="Text 10"/>
          <p:cNvSpPr/>
          <p:nvPr/>
        </p:nvSpPr>
        <p:spPr>
          <a:xfrm>
            <a:off x="786384" y="3712464"/>
            <a:ext cx="2542032" cy="1188720"/>
          </a:xfrm>
          <a:prstGeom prst="rect">
            <a:avLst/>
          </a:prstGeom>
          <a:noFill/>
          <a:ln/>
        </p:spPr>
        <p:txBody>
          <a:bodyPr wrap="square" lIns="0" tIns="0" rIns="0" bIns="0" rtlCol="0" anchor="ctr"/>
          <a:lstStyle/>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기초 개념과 AI·로보틱스</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로봇 체험과 조작 실습</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안전 교육과 실무 교재</a:t>
            </a:r>
            <a:endParaRPr lang="ko-KR" sz="1550" dirty="0"/>
          </a:p>
        </p:txBody>
      </p:sp>
      <p:sp>
        <p:nvSpPr>
          <p:cNvPr id="13" name="Text 11"/>
          <p:cNvSpPr/>
          <p:nvPr/>
        </p:nvSpPr>
        <p:spPr>
          <a:xfrm>
            <a:off x="786384" y="5120640"/>
            <a:ext cx="2514600" cy="265176"/>
          </a:xfrm>
          <a:prstGeom prst="rect">
            <a:avLst/>
          </a:prstGeom>
          <a:noFill/>
          <a:ln/>
        </p:spPr>
        <p:txBody>
          <a:bodyPr wrap="square" lIns="0" tIns="0" rIns="0" bIns="0" rtlCol="0" anchor="ctr"/>
          <a:lstStyle/>
          <a:p>
            <a:pPr marL="0" indent="0">
              <a:buNone/>
            </a:pPr>
            <a:r>
              <a:rPr lang="ko-KR" altLang="en-US" sz="1150" dirty="0">
                <a:solidFill>
                  <a:srgbClr val="5D6C82"/>
                </a:solidFill>
                <a:latin typeface="Noto Sans KR" pitchFamily="34" charset="0"/>
                <a:ea typeface="Noto Sans KR" pitchFamily="34" charset="-122"/>
                <a:cs typeface="Noto Sans KR" pitchFamily="34" charset="-120"/>
              </a:rPr>
              <a:t>교육 콘텐츠 기반</a:t>
            </a:r>
            <a:endParaRPr lang="ko-KR" sz="1150" dirty="0"/>
          </a:p>
        </p:txBody>
      </p:sp>
      <p:sp>
        <p:nvSpPr>
          <p:cNvPr id="14" name="Shape 12"/>
          <p:cNvSpPr/>
          <p:nvPr/>
        </p:nvSpPr>
        <p:spPr>
          <a:xfrm flipH="1">
            <a:off x="3148584" y="2131239"/>
            <a:ext cx="60935" cy="3501466"/>
          </a:xfrm>
          <a:prstGeom prst="line">
            <a:avLst/>
          </a:prstGeom>
          <a:noFill/>
          <a:ln w="19050">
            <a:solidFill>
              <a:srgbClr val="245FF2"/>
            </a:solidFill>
            <a:prstDash val="solid"/>
          </a:ln>
        </p:spPr>
      </p:sp>
      <p:sp>
        <p:nvSpPr>
          <p:cNvPr id="15" name="Shape 13"/>
          <p:cNvSpPr/>
          <p:nvPr/>
        </p:nvSpPr>
        <p:spPr>
          <a:xfrm>
            <a:off x="3538728" y="2148840"/>
            <a:ext cx="2423160" cy="0"/>
          </a:xfrm>
          <a:prstGeom prst="line">
            <a:avLst/>
          </a:prstGeom>
          <a:noFill/>
          <a:ln w="38100">
            <a:solidFill>
              <a:srgbClr val="245FF2"/>
            </a:solidFill>
            <a:prstDash val="solid"/>
          </a:ln>
        </p:spPr>
      </p:sp>
      <p:sp>
        <p:nvSpPr>
          <p:cNvPr id="16" name="Text 14"/>
          <p:cNvSpPr/>
          <p:nvPr/>
        </p:nvSpPr>
        <p:spPr>
          <a:xfrm>
            <a:off x="3538728" y="1775381"/>
            <a:ext cx="548640" cy="219456"/>
          </a:xfrm>
          <a:prstGeom prst="rect">
            <a:avLst/>
          </a:prstGeom>
          <a:noFill/>
          <a:ln/>
        </p:spPr>
        <p:txBody>
          <a:bodyPr wrap="square" lIns="0" tIns="0" rIns="0" bIns="0" rtlCol="0" anchor="ctr"/>
          <a:lstStyle/>
          <a:p>
            <a:pPr marL="0" indent="0">
              <a:buNone/>
            </a:pPr>
            <a:r>
              <a:rPr lang="ko-KR" altLang="en-US" sz="2000" b="1" kern="0" spc="110" dirty="0">
                <a:solidFill>
                  <a:srgbClr val="245FF2"/>
                </a:solidFill>
                <a:latin typeface="Noto Sans KR" pitchFamily="34" charset="0"/>
                <a:ea typeface="Noto Sans KR" pitchFamily="34" charset="-122"/>
                <a:cs typeface="Noto Sans KR" pitchFamily="34" charset="-120"/>
              </a:rPr>
              <a:t>02</a:t>
            </a:r>
            <a:endParaRPr lang="ko-KR" sz="2000" dirty="0"/>
          </a:p>
        </p:txBody>
      </p:sp>
      <p:sp>
        <p:nvSpPr>
          <p:cNvPr id="17" name="Text 15"/>
          <p:cNvSpPr/>
          <p:nvPr/>
        </p:nvSpPr>
        <p:spPr>
          <a:xfrm>
            <a:off x="3538728" y="2441448"/>
            <a:ext cx="2468880" cy="484632"/>
          </a:xfrm>
          <a:prstGeom prst="rect">
            <a:avLst/>
          </a:prstGeom>
          <a:noFill/>
          <a:ln/>
        </p:spPr>
        <p:txBody>
          <a:bodyPr wrap="square" lIns="0" tIns="0" rIns="0" bIns="0" rtlCol="0" anchor="ctr"/>
          <a:lstStyle/>
          <a:p>
            <a:pPr marL="0" indent="0">
              <a:buNone/>
            </a:pPr>
            <a:r>
              <a:rPr lang="ko-KR" altLang="en-US" sz="2700" b="1" dirty="0">
                <a:solidFill>
                  <a:srgbClr val="172A45"/>
                </a:solidFill>
                <a:latin typeface="Noto Sans KR" pitchFamily="34" charset="0"/>
                <a:ea typeface="Noto Sans KR" pitchFamily="34" charset="-122"/>
                <a:cs typeface="Noto Sans KR" pitchFamily="34" charset="-120"/>
              </a:rPr>
              <a:t>컨설팅</a:t>
            </a:r>
            <a:endParaRPr lang="ko-KR" sz="2700" dirty="0"/>
          </a:p>
        </p:txBody>
      </p:sp>
      <p:sp>
        <p:nvSpPr>
          <p:cNvPr id="18" name="Text 16"/>
          <p:cNvSpPr/>
          <p:nvPr/>
        </p:nvSpPr>
        <p:spPr>
          <a:xfrm>
            <a:off x="3538728" y="3099816"/>
            <a:ext cx="2523744" cy="338328"/>
          </a:xfrm>
          <a:prstGeom prst="rect">
            <a:avLst/>
          </a:prstGeom>
          <a:noFill/>
          <a:ln/>
        </p:spPr>
        <p:txBody>
          <a:bodyPr wrap="square" lIns="0" tIns="0" rIns="0" bIns="0" rtlCol="0" anchor="ctr"/>
          <a:lstStyle/>
          <a:p>
            <a:pPr marL="0" indent="0">
              <a:buNone/>
            </a:pPr>
            <a:r>
              <a:rPr lang="ko-KR" altLang="en-US" sz="1450" b="1" dirty="0">
                <a:solidFill>
                  <a:srgbClr val="245FF2"/>
                </a:solidFill>
                <a:latin typeface="Noto Sans KR" pitchFamily="34" charset="0"/>
                <a:ea typeface="Noto Sans KR" pitchFamily="34" charset="-122"/>
                <a:cs typeface="Noto Sans KR" pitchFamily="34" charset="-120"/>
              </a:rPr>
              <a:t>사업가·기업·투자자</a:t>
            </a:r>
            <a:endParaRPr lang="ko-KR" sz="1450" dirty="0"/>
          </a:p>
        </p:txBody>
      </p:sp>
      <p:sp>
        <p:nvSpPr>
          <p:cNvPr id="19" name="Text 17"/>
          <p:cNvSpPr/>
          <p:nvPr/>
        </p:nvSpPr>
        <p:spPr>
          <a:xfrm>
            <a:off x="3538728" y="3712464"/>
            <a:ext cx="2542032" cy="1188720"/>
          </a:xfrm>
          <a:prstGeom prst="rect">
            <a:avLst/>
          </a:prstGeom>
          <a:noFill/>
          <a:ln/>
        </p:spPr>
        <p:txBody>
          <a:bodyPr wrap="square" lIns="0" tIns="0" rIns="0" bIns="0" rtlCol="0" anchor="ctr"/>
          <a:lstStyle/>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기술 이해와 산업 기회</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활용 사례와 도입 방향</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Demo·PoC 기획</a:t>
            </a:r>
            <a:endParaRPr lang="ko-KR" sz="1550" dirty="0"/>
          </a:p>
        </p:txBody>
      </p:sp>
      <p:sp>
        <p:nvSpPr>
          <p:cNvPr id="20" name="Text 18"/>
          <p:cNvSpPr/>
          <p:nvPr/>
        </p:nvSpPr>
        <p:spPr>
          <a:xfrm>
            <a:off x="3538728" y="5120640"/>
            <a:ext cx="2514600" cy="265176"/>
          </a:xfrm>
          <a:prstGeom prst="rect">
            <a:avLst/>
          </a:prstGeom>
          <a:noFill/>
          <a:ln/>
        </p:spPr>
        <p:txBody>
          <a:bodyPr wrap="square" lIns="0" tIns="0" rIns="0" bIns="0" rtlCol="0" anchor="ctr"/>
          <a:lstStyle/>
          <a:p>
            <a:pPr marL="0" indent="0">
              <a:buNone/>
            </a:pPr>
            <a:r>
              <a:rPr lang="ko-KR" altLang="en-US" sz="1150" dirty="0">
                <a:solidFill>
                  <a:srgbClr val="5D6C82"/>
                </a:solidFill>
                <a:latin typeface="Noto Sans KR" pitchFamily="34" charset="0"/>
                <a:ea typeface="Noto Sans KR" pitchFamily="34" charset="-122"/>
                <a:cs typeface="Noto Sans KR" pitchFamily="34" charset="-120"/>
              </a:rPr>
              <a:t>제안 서비스</a:t>
            </a:r>
            <a:endParaRPr lang="ko-KR" sz="1150" dirty="0"/>
          </a:p>
        </p:txBody>
      </p:sp>
      <p:sp>
        <p:nvSpPr>
          <p:cNvPr id="21" name="Shape 19"/>
          <p:cNvSpPr/>
          <p:nvPr/>
        </p:nvSpPr>
        <p:spPr>
          <a:xfrm>
            <a:off x="5951220" y="2131239"/>
            <a:ext cx="0" cy="3474034"/>
          </a:xfrm>
          <a:prstGeom prst="line">
            <a:avLst/>
          </a:prstGeom>
          <a:noFill/>
          <a:ln w="19050">
            <a:solidFill>
              <a:srgbClr val="245FF2"/>
            </a:solidFill>
            <a:prstDash val="solid"/>
          </a:ln>
        </p:spPr>
      </p:sp>
      <p:sp>
        <p:nvSpPr>
          <p:cNvPr id="22" name="Shape 20"/>
          <p:cNvSpPr/>
          <p:nvPr/>
        </p:nvSpPr>
        <p:spPr>
          <a:xfrm>
            <a:off x="6291072" y="2148840"/>
            <a:ext cx="2423160" cy="0"/>
          </a:xfrm>
          <a:prstGeom prst="line">
            <a:avLst/>
          </a:prstGeom>
          <a:noFill/>
          <a:ln w="38100">
            <a:solidFill>
              <a:srgbClr val="23B8DA"/>
            </a:solidFill>
            <a:prstDash val="solid"/>
          </a:ln>
        </p:spPr>
      </p:sp>
      <p:sp>
        <p:nvSpPr>
          <p:cNvPr id="23" name="Text 21"/>
          <p:cNvSpPr/>
          <p:nvPr/>
        </p:nvSpPr>
        <p:spPr>
          <a:xfrm>
            <a:off x="6291072" y="1775381"/>
            <a:ext cx="548640" cy="219456"/>
          </a:xfrm>
          <a:prstGeom prst="rect">
            <a:avLst/>
          </a:prstGeom>
          <a:noFill/>
          <a:ln/>
        </p:spPr>
        <p:txBody>
          <a:bodyPr wrap="square" lIns="0" tIns="0" rIns="0" bIns="0" rtlCol="0" anchor="ctr"/>
          <a:lstStyle/>
          <a:p>
            <a:pPr marL="0" indent="0">
              <a:buNone/>
            </a:pPr>
            <a:r>
              <a:rPr lang="ko-KR" altLang="en-US" sz="2000" b="1" kern="0" spc="110" dirty="0">
                <a:solidFill>
                  <a:srgbClr val="23B8DA"/>
                </a:solidFill>
                <a:latin typeface="Noto Sans KR" pitchFamily="34" charset="0"/>
                <a:ea typeface="Noto Sans KR" pitchFamily="34" charset="-122"/>
                <a:cs typeface="Noto Sans KR" pitchFamily="34" charset="-120"/>
              </a:rPr>
              <a:t>03</a:t>
            </a:r>
            <a:endParaRPr lang="ko-KR" sz="2000" dirty="0"/>
          </a:p>
        </p:txBody>
      </p:sp>
      <p:sp>
        <p:nvSpPr>
          <p:cNvPr id="24" name="Text 22"/>
          <p:cNvSpPr/>
          <p:nvPr/>
        </p:nvSpPr>
        <p:spPr>
          <a:xfrm>
            <a:off x="6291072" y="2441448"/>
            <a:ext cx="2468880" cy="484632"/>
          </a:xfrm>
          <a:prstGeom prst="rect">
            <a:avLst/>
          </a:prstGeom>
          <a:noFill/>
          <a:ln/>
        </p:spPr>
        <p:txBody>
          <a:bodyPr wrap="square" lIns="0" tIns="0" rIns="0" bIns="0" rtlCol="0" anchor="ctr"/>
          <a:lstStyle/>
          <a:p>
            <a:pPr marL="0" indent="0">
              <a:buNone/>
            </a:pPr>
            <a:r>
              <a:rPr lang="ko-KR" altLang="en-US" sz="2700" b="1" dirty="0">
                <a:solidFill>
                  <a:srgbClr val="172A45"/>
                </a:solidFill>
                <a:latin typeface="Noto Sans KR" pitchFamily="34" charset="0"/>
                <a:ea typeface="Noto Sans KR" pitchFamily="34" charset="-122"/>
                <a:cs typeface="Noto Sans KR" pitchFamily="34" charset="-120"/>
              </a:rPr>
              <a:t>CS / AS</a:t>
            </a:r>
            <a:endParaRPr lang="ko-KR" sz="2700" dirty="0"/>
          </a:p>
        </p:txBody>
      </p:sp>
      <p:sp>
        <p:nvSpPr>
          <p:cNvPr id="25" name="Text 23"/>
          <p:cNvSpPr/>
          <p:nvPr/>
        </p:nvSpPr>
        <p:spPr>
          <a:xfrm>
            <a:off x="6291072" y="3099816"/>
            <a:ext cx="2523744" cy="338328"/>
          </a:xfrm>
          <a:prstGeom prst="rect">
            <a:avLst/>
          </a:prstGeom>
          <a:noFill/>
          <a:ln/>
        </p:spPr>
        <p:txBody>
          <a:bodyPr wrap="square" lIns="0" tIns="0" rIns="0" bIns="0" rtlCol="0" anchor="ctr"/>
          <a:lstStyle/>
          <a:p>
            <a:pPr marL="0" indent="0">
              <a:buNone/>
            </a:pPr>
            <a:r>
              <a:rPr lang="ko-KR" altLang="en-US" sz="1450" b="1" dirty="0">
                <a:solidFill>
                  <a:srgbClr val="245FF2"/>
                </a:solidFill>
                <a:latin typeface="Noto Sans KR" pitchFamily="34" charset="0"/>
                <a:ea typeface="Noto Sans KR" pitchFamily="34" charset="-122"/>
                <a:cs typeface="Noto Sans KR" pitchFamily="34" charset="-120"/>
              </a:rPr>
              <a:t>기업·기관·운영 조직</a:t>
            </a:r>
            <a:endParaRPr lang="ko-KR" sz="1450" dirty="0"/>
          </a:p>
        </p:txBody>
      </p:sp>
      <p:sp>
        <p:nvSpPr>
          <p:cNvPr id="26" name="Text 24"/>
          <p:cNvSpPr/>
          <p:nvPr/>
        </p:nvSpPr>
        <p:spPr>
          <a:xfrm>
            <a:off x="6291072" y="3712464"/>
            <a:ext cx="2542032" cy="1188720"/>
          </a:xfrm>
          <a:prstGeom prst="rect">
            <a:avLst/>
          </a:prstGeom>
          <a:noFill/>
          <a:ln/>
        </p:spPr>
        <p:txBody>
          <a:bodyPr wrap="square" lIns="0" tIns="0" rIns="0" bIns="0" rtlCol="0" anchor="ctr"/>
          <a:lstStyle/>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운영 안내와 기술 지원</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사용 교육과 문제 대응</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유지관리·지원 연계</a:t>
            </a:r>
            <a:endParaRPr lang="ko-KR" sz="1550" dirty="0"/>
          </a:p>
        </p:txBody>
      </p:sp>
      <p:sp>
        <p:nvSpPr>
          <p:cNvPr id="27" name="Text 25"/>
          <p:cNvSpPr/>
          <p:nvPr/>
        </p:nvSpPr>
        <p:spPr>
          <a:xfrm>
            <a:off x="6291072" y="5120640"/>
            <a:ext cx="2514600" cy="265176"/>
          </a:xfrm>
          <a:prstGeom prst="rect">
            <a:avLst/>
          </a:prstGeom>
          <a:noFill/>
          <a:ln/>
        </p:spPr>
        <p:txBody>
          <a:bodyPr wrap="square" lIns="0" tIns="0" rIns="0" bIns="0" rtlCol="0" anchor="ctr"/>
          <a:lstStyle/>
          <a:p>
            <a:pPr marL="0" indent="0">
              <a:buNone/>
            </a:pPr>
            <a:r>
              <a:rPr lang="ko-KR" altLang="en-US" sz="1150" dirty="0">
                <a:solidFill>
                  <a:srgbClr val="5D6C82"/>
                </a:solidFill>
                <a:latin typeface="Noto Sans KR" pitchFamily="34" charset="0"/>
                <a:ea typeface="Noto Sans KR" pitchFamily="34" charset="-122"/>
                <a:cs typeface="Noto Sans KR" pitchFamily="34" charset="-120"/>
              </a:rPr>
              <a:t>범위 협의</a:t>
            </a:r>
            <a:endParaRPr lang="ko-KR" sz="1150" dirty="0"/>
          </a:p>
        </p:txBody>
      </p:sp>
      <p:sp>
        <p:nvSpPr>
          <p:cNvPr id="28" name="Shape 26"/>
          <p:cNvSpPr/>
          <p:nvPr/>
        </p:nvSpPr>
        <p:spPr>
          <a:xfrm flipH="1">
            <a:off x="8685276" y="2131238"/>
            <a:ext cx="28956" cy="3565471"/>
          </a:xfrm>
          <a:prstGeom prst="line">
            <a:avLst/>
          </a:prstGeom>
          <a:noFill/>
          <a:ln w="19050">
            <a:solidFill>
              <a:srgbClr val="23B8DA"/>
            </a:solidFill>
            <a:prstDash val="solid"/>
          </a:ln>
        </p:spPr>
      </p:sp>
      <p:sp>
        <p:nvSpPr>
          <p:cNvPr id="29" name="Shape 27"/>
          <p:cNvSpPr/>
          <p:nvPr/>
        </p:nvSpPr>
        <p:spPr>
          <a:xfrm>
            <a:off x="9043416" y="2148840"/>
            <a:ext cx="2423160" cy="0"/>
          </a:xfrm>
          <a:prstGeom prst="line">
            <a:avLst/>
          </a:prstGeom>
          <a:noFill/>
          <a:ln w="38100">
            <a:solidFill>
              <a:srgbClr val="23B8DA"/>
            </a:solidFill>
            <a:prstDash val="solid"/>
          </a:ln>
        </p:spPr>
      </p:sp>
      <p:sp>
        <p:nvSpPr>
          <p:cNvPr id="30" name="Text 28"/>
          <p:cNvSpPr/>
          <p:nvPr/>
        </p:nvSpPr>
        <p:spPr>
          <a:xfrm>
            <a:off x="9043416" y="1775381"/>
            <a:ext cx="548640" cy="219456"/>
          </a:xfrm>
          <a:prstGeom prst="rect">
            <a:avLst/>
          </a:prstGeom>
          <a:noFill/>
          <a:ln/>
        </p:spPr>
        <p:txBody>
          <a:bodyPr wrap="square" lIns="0" tIns="0" rIns="0" bIns="0" rtlCol="0" anchor="ctr"/>
          <a:lstStyle/>
          <a:p>
            <a:pPr marL="0" indent="0">
              <a:buNone/>
            </a:pPr>
            <a:r>
              <a:rPr lang="ko-KR" altLang="en-US" sz="2000" b="1" kern="0" spc="110" dirty="0">
                <a:solidFill>
                  <a:srgbClr val="23B8DA"/>
                </a:solidFill>
                <a:latin typeface="Noto Sans KR" pitchFamily="34" charset="0"/>
                <a:ea typeface="Noto Sans KR" pitchFamily="34" charset="-122"/>
                <a:cs typeface="Noto Sans KR" pitchFamily="34" charset="-120"/>
              </a:rPr>
              <a:t>04</a:t>
            </a:r>
            <a:endParaRPr lang="ko-KR" sz="2000" dirty="0"/>
          </a:p>
        </p:txBody>
      </p:sp>
      <p:sp>
        <p:nvSpPr>
          <p:cNvPr id="31" name="Text 29"/>
          <p:cNvSpPr/>
          <p:nvPr/>
        </p:nvSpPr>
        <p:spPr>
          <a:xfrm>
            <a:off x="9043416" y="2441448"/>
            <a:ext cx="2468880" cy="484632"/>
          </a:xfrm>
          <a:prstGeom prst="rect">
            <a:avLst/>
          </a:prstGeom>
          <a:noFill/>
          <a:ln/>
        </p:spPr>
        <p:txBody>
          <a:bodyPr wrap="square" lIns="0" tIns="0" rIns="0" bIns="0" rtlCol="0" anchor="ctr"/>
          <a:lstStyle/>
          <a:p>
            <a:pPr marL="0" indent="0">
              <a:buNone/>
            </a:pPr>
            <a:r>
              <a:rPr lang="ko-KR" altLang="en-US" sz="2700" b="1" dirty="0">
                <a:solidFill>
                  <a:srgbClr val="172A45"/>
                </a:solidFill>
                <a:latin typeface="Noto Sans KR" pitchFamily="34" charset="0"/>
                <a:ea typeface="Noto Sans KR" pitchFamily="34" charset="-122"/>
                <a:cs typeface="Noto Sans KR" pitchFamily="34" charset="-120"/>
              </a:rPr>
              <a:t>대여</a:t>
            </a:r>
            <a:endParaRPr lang="ko-KR" sz="2700" dirty="0"/>
          </a:p>
        </p:txBody>
      </p:sp>
      <p:sp>
        <p:nvSpPr>
          <p:cNvPr id="32" name="Text 30"/>
          <p:cNvSpPr/>
          <p:nvPr/>
        </p:nvSpPr>
        <p:spPr>
          <a:xfrm>
            <a:off x="9043416" y="3099816"/>
            <a:ext cx="2523744" cy="338328"/>
          </a:xfrm>
          <a:prstGeom prst="rect">
            <a:avLst/>
          </a:prstGeom>
          <a:noFill/>
          <a:ln/>
        </p:spPr>
        <p:txBody>
          <a:bodyPr wrap="square" lIns="0" tIns="0" rIns="0" bIns="0" rtlCol="0" anchor="ctr"/>
          <a:lstStyle/>
          <a:p>
            <a:pPr marL="0" indent="0">
              <a:buNone/>
            </a:pPr>
            <a:r>
              <a:rPr lang="ko-KR" altLang="en-US" sz="1450" b="1" dirty="0">
                <a:solidFill>
                  <a:srgbClr val="245FF2"/>
                </a:solidFill>
                <a:latin typeface="Noto Sans KR" pitchFamily="34" charset="0"/>
                <a:ea typeface="Noto Sans KR" pitchFamily="34" charset="-122"/>
                <a:cs typeface="Noto Sans KR" pitchFamily="34" charset="-120"/>
              </a:rPr>
              <a:t>기업·대학·전시·행사</a:t>
            </a:r>
            <a:endParaRPr lang="ko-KR" sz="1450" dirty="0"/>
          </a:p>
        </p:txBody>
      </p:sp>
      <p:sp>
        <p:nvSpPr>
          <p:cNvPr id="33" name="Text 31"/>
          <p:cNvSpPr/>
          <p:nvPr/>
        </p:nvSpPr>
        <p:spPr>
          <a:xfrm>
            <a:off x="9043416" y="3712464"/>
            <a:ext cx="2542032" cy="1188720"/>
          </a:xfrm>
          <a:prstGeom prst="rect">
            <a:avLst/>
          </a:prstGeom>
          <a:noFill/>
          <a:ln/>
        </p:spPr>
        <p:txBody>
          <a:bodyPr wrap="square" lIns="0" tIns="0" rIns="0" bIns="0" rtlCol="0" anchor="ctr"/>
          <a:lstStyle/>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로봇 대여와 전시 체험</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기업 쇼케이스·엔터테인먼트</a:t>
            </a:r>
            <a:endParaRPr lang="ko-KR" sz="1550" dirty="0"/>
          </a:p>
          <a:p>
            <a:pPr marL="0" indent="0">
              <a:lnSpc>
                <a:spcPct val="117000"/>
              </a:lnSpc>
              <a:buNone/>
            </a:pPr>
            <a:r>
              <a:rPr lang="ko-KR" altLang="en-US" sz="1550" dirty="0">
                <a:solidFill>
                  <a:srgbClr val="5D6C82"/>
                </a:solidFill>
                <a:latin typeface="Noto Sans KR" pitchFamily="34" charset="0"/>
                <a:ea typeface="Noto Sans KR" pitchFamily="34" charset="-122"/>
                <a:cs typeface="Noto Sans KR" pitchFamily="34" charset="-120"/>
              </a:rPr>
              <a:t>피지컬 AI 경험 프로그램</a:t>
            </a:r>
            <a:endParaRPr lang="ko-KR" sz="1550" dirty="0"/>
          </a:p>
        </p:txBody>
      </p:sp>
      <p:sp>
        <p:nvSpPr>
          <p:cNvPr id="34" name="Text 32"/>
          <p:cNvSpPr/>
          <p:nvPr/>
        </p:nvSpPr>
        <p:spPr>
          <a:xfrm>
            <a:off x="9043416" y="5120640"/>
            <a:ext cx="2514600" cy="265176"/>
          </a:xfrm>
          <a:prstGeom prst="rect">
            <a:avLst/>
          </a:prstGeom>
          <a:noFill/>
          <a:ln/>
        </p:spPr>
        <p:txBody>
          <a:bodyPr wrap="square" lIns="0" tIns="0" rIns="0" bIns="0" rtlCol="0" anchor="ctr"/>
          <a:lstStyle/>
          <a:p>
            <a:pPr marL="0" indent="0">
              <a:buNone/>
            </a:pPr>
            <a:r>
              <a:rPr lang="ko-KR" altLang="en-US" sz="1150" dirty="0">
                <a:solidFill>
                  <a:srgbClr val="5D6C82"/>
                </a:solidFill>
                <a:latin typeface="Noto Sans KR" pitchFamily="34" charset="0"/>
                <a:ea typeface="Noto Sans KR" pitchFamily="34" charset="-122"/>
                <a:cs typeface="Noto Sans KR" pitchFamily="34" charset="-120"/>
              </a:rPr>
              <a:t>협력 연계 활용 예정</a:t>
            </a:r>
            <a:endParaRPr lang="ko-KR" sz="1150" dirty="0"/>
          </a:p>
        </p:txBody>
      </p:sp>
      <p:sp>
        <p:nvSpPr>
          <p:cNvPr id="35" name="Shape 33"/>
          <p:cNvSpPr/>
          <p:nvPr/>
        </p:nvSpPr>
        <p:spPr>
          <a:xfrm flipH="1">
            <a:off x="11478006" y="2131238"/>
            <a:ext cx="0" cy="3556330"/>
          </a:xfrm>
          <a:prstGeom prst="line">
            <a:avLst/>
          </a:prstGeom>
          <a:noFill/>
          <a:ln w="19050">
            <a:solidFill>
              <a:srgbClr val="23B8DA"/>
            </a:solidFill>
            <a:prstDash val="solid"/>
          </a:ln>
        </p:spPr>
      </p:sp>
      <p:sp>
        <p:nvSpPr>
          <p:cNvPr id="36" name="Shape 34"/>
          <p:cNvSpPr/>
          <p:nvPr/>
        </p:nvSpPr>
        <p:spPr>
          <a:xfrm>
            <a:off x="768096" y="5687568"/>
            <a:ext cx="10661904" cy="521208"/>
          </a:xfrm>
          <a:prstGeom prst="rect">
            <a:avLst/>
          </a:prstGeom>
          <a:solidFill>
            <a:srgbClr val="101F39"/>
          </a:solidFill>
          <a:ln w="12700">
            <a:solidFill>
              <a:srgbClr val="101F39"/>
            </a:solidFill>
            <a:prstDash val="solid"/>
          </a:ln>
        </p:spPr>
      </p:sp>
      <p:sp>
        <p:nvSpPr>
          <p:cNvPr id="37" name="Text 35"/>
          <p:cNvSpPr/>
          <p:nvPr/>
        </p:nvSpPr>
        <p:spPr>
          <a:xfrm>
            <a:off x="950976" y="5769864"/>
            <a:ext cx="10287000" cy="310896"/>
          </a:xfrm>
          <a:prstGeom prst="rect">
            <a:avLst/>
          </a:prstGeom>
          <a:noFill/>
          <a:ln/>
        </p:spPr>
        <p:txBody>
          <a:bodyPr wrap="square" lIns="0" tIns="0" rIns="0" bIns="0" rtlCol="0" anchor="ctr"/>
          <a:lstStyle/>
          <a:p>
            <a:pPr marL="0" indent="0" algn="ctr">
              <a:buNone/>
            </a:pPr>
            <a:r>
              <a:rPr lang="ko-KR" altLang="en-US" sz="2000" b="1" dirty="0">
                <a:solidFill>
                  <a:srgbClr val="FFFFFF"/>
                </a:solidFill>
                <a:latin typeface="Noto Sans KR" pitchFamily="34" charset="0"/>
                <a:ea typeface="Noto Sans KR" pitchFamily="34" charset="-122"/>
                <a:cs typeface="Noto Sans KR" pitchFamily="34" charset="-120"/>
              </a:rPr>
              <a:t>첫 경험에서 실질적인 준비까지, 하나의 과정으로 연결합니다</a:t>
            </a:r>
            <a:endParaRPr lang="ko-K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실제 로봇 경험에서, 피지컬 AI 원리 이해까지</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서로 다른 형태의 로봇으로 움직임을 경험하고 작동 방식을 배웁니다</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08</a:t>
            </a:r>
            <a:endParaRPr lang="ko-KR" sz="1000" dirty="0"/>
          </a:p>
        </p:txBody>
      </p:sp>
      <p:sp>
        <p:nvSpPr>
          <p:cNvPr id="8" name="Shape 6"/>
          <p:cNvSpPr/>
          <p:nvPr/>
        </p:nvSpPr>
        <p:spPr>
          <a:xfrm>
            <a:off x="4233672" y="1810512"/>
            <a:ext cx="0" cy="3465576"/>
          </a:xfrm>
          <a:prstGeom prst="line">
            <a:avLst/>
          </a:prstGeom>
          <a:noFill/>
          <a:ln w="10160">
            <a:solidFill>
              <a:srgbClr val="D9E2ED"/>
            </a:solidFill>
            <a:prstDash val="solid"/>
          </a:ln>
        </p:spPr>
      </p:sp>
      <p:sp>
        <p:nvSpPr>
          <p:cNvPr id="9" name="Shape 7"/>
          <p:cNvSpPr/>
          <p:nvPr/>
        </p:nvSpPr>
        <p:spPr>
          <a:xfrm>
            <a:off x="8028432" y="1810512"/>
            <a:ext cx="0" cy="3465576"/>
          </a:xfrm>
          <a:prstGeom prst="line">
            <a:avLst/>
          </a:prstGeom>
          <a:noFill/>
          <a:ln w="10160">
            <a:solidFill>
              <a:srgbClr val="D9E2ED"/>
            </a:solidFill>
            <a:prstDash val="solid"/>
          </a:ln>
        </p:spPr>
      </p:sp>
      <p:sp>
        <p:nvSpPr>
          <p:cNvPr id="10" name="Text 8"/>
          <p:cNvSpPr/>
          <p:nvPr/>
        </p:nvSpPr>
        <p:spPr>
          <a:xfrm>
            <a:off x="841248" y="1764792"/>
            <a:ext cx="2926080" cy="219456"/>
          </a:xfrm>
          <a:prstGeom prst="rect">
            <a:avLst/>
          </a:prstGeom>
          <a:noFill/>
          <a:ln/>
        </p:spPr>
        <p:txBody>
          <a:bodyPr wrap="square" lIns="0" tIns="0" rIns="0" bIns="0" rtlCol="0" anchor="ctr"/>
          <a:lstStyle/>
          <a:p>
            <a:pPr marL="0" indent="0">
              <a:buNone/>
            </a:pPr>
            <a:r>
              <a:rPr lang="ko-KR" altLang="en-US" sz="1200" b="1" kern="0" spc="110" dirty="0">
                <a:solidFill>
                  <a:srgbClr val="245FF2"/>
                </a:solidFill>
                <a:latin typeface="Noto Sans KR" pitchFamily="34" charset="0"/>
                <a:ea typeface="Noto Sans KR" pitchFamily="34" charset="-122"/>
                <a:cs typeface="Noto Sans KR" pitchFamily="34" charset="-120"/>
              </a:rPr>
              <a:t>경험하다</a:t>
            </a:r>
            <a:endParaRPr lang="ko-KR" sz="1200" dirty="0"/>
          </a:p>
        </p:txBody>
      </p:sp>
      <p:sp>
        <p:nvSpPr>
          <p:cNvPr id="11" name="Text 9"/>
          <p:cNvSpPr/>
          <p:nvPr/>
        </p:nvSpPr>
        <p:spPr>
          <a:xfrm>
            <a:off x="4645152" y="1764792"/>
            <a:ext cx="3017520" cy="219456"/>
          </a:xfrm>
          <a:prstGeom prst="rect">
            <a:avLst/>
          </a:prstGeom>
          <a:noFill/>
          <a:ln/>
        </p:spPr>
        <p:txBody>
          <a:bodyPr wrap="square" lIns="0" tIns="0" rIns="0" bIns="0" rtlCol="0" anchor="ctr"/>
          <a:lstStyle/>
          <a:p>
            <a:pPr marL="0" indent="0">
              <a:buNone/>
            </a:pPr>
            <a:r>
              <a:rPr lang="ko-KR" altLang="en-US" sz="1200" b="1" kern="0" spc="110" dirty="0">
                <a:solidFill>
                  <a:srgbClr val="245FF2"/>
                </a:solidFill>
                <a:latin typeface="Noto Sans KR" pitchFamily="34" charset="0"/>
                <a:ea typeface="Noto Sans KR" pitchFamily="34" charset="-122"/>
                <a:cs typeface="Noto Sans KR" pitchFamily="34" charset="-120"/>
              </a:rPr>
              <a:t>상호작용하다</a:t>
            </a:r>
            <a:endParaRPr lang="ko-KR" sz="1200" dirty="0"/>
          </a:p>
        </p:txBody>
      </p:sp>
      <p:sp>
        <p:nvSpPr>
          <p:cNvPr id="12" name="Text 10"/>
          <p:cNvSpPr/>
          <p:nvPr/>
        </p:nvSpPr>
        <p:spPr>
          <a:xfrm>
            <a:off x="8311896" y="1764792"/>
            <a:ext cx="3017520" cy="219456"/>
          </a:xfrm>
          <a:prstGeom prst="rect">
            <a:avLst/>
          </a:prstGeom>
          <a:noFill/>
          <a:ln/>
        </p:spPr>
        <p:txBody>
          <a:bodyPr wrap="square" lIns="0" tIns="0" rIns="0" bIns="0" rtlCol="0" anchor="ctr"/>
          <a:lstStyle/>
          <a:p>
            <a:pPr marL="0" indent="0">
              <a:buNone/>
            </a:pPr>
            <a:r>
              <a:rPr lang="ko-KR" altLang="en-US" sz="1200" b="1" kern="0" spc="110" dirty="0">
                <a:solidFill>
                  <a:srgbClr val="245FF2"/>
                </a:solidFill>
                <a:latin typeface="Noto Sans KR" pitchFamily="34" charset="0"/>
                <a:ea typeface="Noto Sans KR" pitchFamily="34" charset="-122"/>
                <a:cs typeface="Noto Sans KR" pitchFamily="34" charset="-120"/>
              </a:rPr>
              <a:t>원리를 이해하다</a:t>
            </a:r>
            <a:endParaRPr lang="ko-KR" sz="1200" dirty="0"/>
          </a:p>
        </p:txBody>
      </p:sp>
      <p:pic>
        <p:nvPicPr>
          <p:cNvPr id="13" name="Image 0" descr="C:\Users\user\Desktop\ppt_for_bssiness_ai_strategey\assets\unitree_g1.png"/>
          <p:cNvPicPr>
            <a:picLocks noChangeAspect="1"/>
          </p:cNvPicPr>
          <p:nvPr/>
        </p:nvPicPr>
        <p:blipFill>
          <a:blip r:embed="rId3"/>
          <a:srcRect/>
          <a:stretch/>
        </p:blipFill>
        <p:spPr>
          <a:xfrm>
            <a:off x="758952" y="2176272"/>
            <a:ext cx="3227832" cy="2633472"/>
          </a:xfrm>
          <a:prstGeom prst="rect">
            <a:avLst/>
          </a:prstGeom>
        </p:spPr>
      </p:pic>
      <p:pic>
        <p:nvPicPr>
          <p:cNvPr id="14" name="Image 1" descr="C:\Users\user\Desktop\ppt_for_bssiness_ai_strategey\assets\unitree_go2.png"/>
          <p:cNvPicPr>
            <a:picLocks noChangeAspect="1"/>
          </p:cNvPicPr>
          <p:nvPr/>
        </p:nvPicPr>
        <p:blipFill>
          <a:blip r:embed="rId4"/>
          <a:srcRect/>
          <a:stretch/>
        </p:blipFill>
        <p:spPr>
          <a:xfrm>
            <a:off x="4443984" y="2103120"/>
            <a:ext cx="3392424" cy="2788920"/>
          </a:xfrm>
          <a:prstGeom prst="rect">
            <a:avLst/>
          </a:prstGeom>
        </p:spPr>
      </p:pic>
      <p:pic>
        <p:nvPicPr>
          <p:cNvPr id="15" name="Image 2" descr="C:\Users\user\Desktop\ppt_for_bssiness_ai_strategey\assets\geminibot_development_reference.jpg"/>
          <p:cNvPicPr>
            <a:picLocks noChangeAspect="1"/>
          </p:cNvPicPr>
          <p:nvPr/>
        </p:nvPicPr>
        <p:blipFill>
          <a:blip r:embed="rId5"/>
          <a:srcRect/>
          <a:stretch/>
        </p:blipFill>
        <p:spPr>
          <a:xfrm>
            <a:off x="8266176" y="2167128"/>
            <a:ext cx="3136392" cy="2633472"/>
          </a:xfrm>
          <a:prstGeom prst="rect">
            <a:avLst/>
          </a:prstGeom>
        </p:spPr>
      </p:pic>
      <p:sp>
        <p:nvSpPr>
          <p:cNvPr id="16" name="Text 11"/>
          <p:cNvSpPr/>
          <p:nvPr/>
        </p:nvSpPr>
        <p:spPr>
          <a:xfrm>
            <a:off x="832104" y="4919472"/>
            <a:ext cx="3200400" cy="365760"/>
          </a:xfrm>
          <a:prstGeom prst="rect">
            <a:avLst/>
          </a:prstGeom>
          <a:noFill/>
          <a:ln/>
        </p:spPr>
        <p:txBody>
          <a:bodyPr wrap="square" lIns="0" tIns="0" rIns="0" bIns="0" rtlCol="0" anchor="ctr"/>
          <a:lstStyle/>
          <a:p>
            <a:pPr marL="0" indent="0">
              <a:buNone/>
            </a:pPr>
            <a:r>
              <a:rPr lang="ko-KR" altLang="en-US" sz="2200" b="1" dirty="0">
                <a:solidFill>
                  <a:srgbClr val="172A45"/>
                </a:solidFill>
                <a:latin typeface="Noto Sans KR" pitchFamily="34" charset="0"/>
                <a:ea typeface="Noto Sans KR" pitchFamily="34" charset="-122"/>
                <a:cs typeface="Noto Sans KR" pitchFamily="34" charset="-120"/>
              </a:rPr>
              <a:t>UNITREE G1</a:t>
            </a:r>
            <a:endParaRPr lang="ko-KR" sz="2200" dirty="0"/>
          </a:p>
        </p:txBody>
      </p:sp>
      <p:sp>
        <p:nvSpPr>
          <p:cNvPr id="17" name="Text 12"/>
          <p:cNvSpPr/>
          <p:nvPr/>
        </p:nvSpPr>
        <p:spPr>
          <a:xfrm>
            <a:off x="832104" y="5404104"/>
            <a:ext cx="3200400" cy="265176"/>
          </a:xfrm>
          <a:prstGeom prst="rect">
            <a:avLst/>
          </a:prstGeom>
          <a:noFill/>
          <a:ln/>
        </p:spPr>
        <p:txBody>
          <a:bodyPr wrap="square" lIns="0" tIns="0" rIns="0" bIns="0" rtlCol="0" anchor="ctr"/>
          <a:lstStyle/>
          <a:p>
            <a:pPr marL="0" indent="0">
              <a:buNone/>
            </a:pPr>
            <a:r>
              <a:rPr lang="ko-KR" altLang="en-US" sz="1500" dirty="0">
                <a:solidFill>
                  <a:srgbClr val="5D6C82"/>
                </a:solidFill>
                <a:latin typeface="Noto Sans KR" pitchFamily="34" charset="0"/>
                <a:ea typeface="Noto Sans KR" pitchFamily="34" charset="-122"/>
                <a:cs typeface="Noto Sans KR" pitchFamily="34" charset="-120"/>
              </a:rPr>
              <a:t>휴머노이드 로봇</a:t>
            </a:r>
            <a:endParaRPr lang="ko-KR" sz="1500" dirty="0"/>
          </a:p>
        </p:txBody>
      </p:sp>
      <p:sp>
        <p:nvSpPr>
          <p:cNvPr id="18" name="Text 13"/>
          <p:cNvSpPr/>
          <p:nvPr/>
        </p:nvSpPr>
        <p:spPr>
          <a:xfrm>
            <a:off x="4590288" y="4919472"/>
            <a:ext cx="3200400" cy="365760"/>
          </a:xfrm>
          <a:prstGeom prst="rect">
            <a:avLst/>
          </a:prstGeom>
          <a:noFill/>
          <a:ln/>
        </p:spPr>
        <p:txBody>
          <a:bodyPr wrap="square" lIns="0" tIns="0" rIns="0" bIns="0" rtlCol="0" anchor="ctr"/>
          <a:lstStyle/>
          <a:p>
            <a:pPr marL="0" indent="0">
              <a:buNone/>
            </a:pPr>
            <a:r>
              <a:rPr lang="ko-KR" altLang="en-US" sz="2200" b="1" dirty="0">
                <a:solidFill>
                  <a:srgbClr val="172A45"/>
                </a:solidFill>
                <a:latin typeface="Noto Sans KR" pitchFamily="34" charset="0"/>
                <a:ea typeface="Noto Sans KR" pitchFamily="34" charset="-122"/>
                <a:cs typeface="Noto Sans KR" pitchFamily="34" charset="-120"/>
              </a:rPr>
              <a:t>UNITREE GO2</a:t>
            </a:r>
            <a:endParaRPr lang="ko-KR" sz="2200" dirty="0"/>
          </a:p>
        </p:txBody>
      </p:sp>
      <p:sp>
        <p:nvSpPr>
          <p:cNvPr id="19" name="Text 14"/>
          <p:cNvSpPr/>
          <p:nvPr/>
        </p:nvSpPr>
        <p:spPr>
          <a:xfrm>
            <a:off x="4590288" y="5404104"/>
            <a:ext cx="3200400" cy="265176"/>
          </a:xfrm>
          <a:prstGeom prst="rect">
            <a:avLst/>
          </a:prstGeom>
          <a:noFill/>
          <a:ln/>
        </p:spPr>
        <p:txBody>
          <a:bodyPr wrap="square" lIns="0" tIns="0" rIns="0" bIns="0" rtlCol="0" anchor="ctr"/>
          <a:lstStyle/>
          <a:p>
            <a:pPr marL="0" indent="0">
              <a:buNone/>
            </a:pPr>
            <a:r>
              <a:rPr lang="ko-KR" altLang="en-US" sz="1500" dirty="0">
                <a:solidFill>
                  <a:srgbClr val="5D6C82"/>
                </a:solidFill>
                <a:latin typeface="Noto Sans KR" pitchFamily="34" charset="0"/>
                <a:ea typeface="Noto Sans KR" pitchFamily="34" charset="-122"/>
                <a:cs typeface="Noto Sans KR" pitchFamily="34" charset="-120"/>
              </a:rPr>
              <a:t>사족보행 로봇</a:t>
            </a:r>
            <a:endParaRPr lang="ko-KR" sz="1500" dirty="0"/>
          </a:p>
        </p:txBody>
      </p:sp>
      <p:sp>
        <p:nvSpPr>
          <p:cNvPr id="20" name="Text 15"/>
          <p:cNvSpPr/>
          <p:nvPr/>
        </p:nvSpPr>
        <p:spPr>
          <a:xfrm>
            <a:off x="8266176" y="4919472"/>
            <a:ext cx="3246120" cy="365760"/>
          </a:xfrm>
          <a:prstGeom prst="rect">
            <a:avLst/>
          </a:prstGeom>
          <a:noFill/>
          <a:ln/>
        </p:spPr>
        <p:txBody>
          <a:bodyPr wrap="square" lIns="0" tIns="0" rIns="0" bIns="0" rtlCol="0" anchor="ctr"/>
          <a:lstStyle/>
          <a:p>
            <a:pPr marL="0" indent="0">
              <a:buNone/>
            </a:pPr>
            <a:r>
              <a:rPr lang="ko-KR" altLang="en-US" sz="2100" b="1" dirty="0">
                <a:solidFill>
                  <a:srgbClr val="172A45"/>
                </a:solidFill>
                <a:latin typeface="Noto Sans KR" pitchFamily="34" charset="0"/>
                <a:ea typeface="Noto Sans KR" pitchFamily="34" charset="-122"/>
                <a:cs typeface="Noto Sans KR" pitchFamily="34" charset="-120"/>
              </a:rPr>
              <a:t>KIRO GeminiBOT</a:t>
            </a:r>
            <a:endParaRPr lang="ko-KR" sz="2100" dirty="0"/>
          </a:p>
        </p:txBody>
      </p:sp>
      <p:sp>
        <p:nvSpPr>
          <p:cNvPr id="21" name="Text 16"/>
          <p:cNvSpPr/>
          <p:nvPr/>
        </p:nvSpPr>
        <p:spPr>
          <a:xfrm>
            <a:off x="8266176" y="5404104"/>
            <a:ext cx="3218688" cy="411480"/>
          </a:xfrm>
          <a:prstGeom prst="rect">
            <a:avLst/>
          </a:prstGeom>
          <a:noFill/>
          <a:ln/>
        </p:spPr>
        <p:txBody>
          <a:bodyPr wrap="square" lIns="0" tIns="0" rIns="0" bIns="0" rtlCol="0" anchor="ctr"/>
          <a:lstStyle/>
          <a:p>
            <a:pPr marL="0" indent="0">
              <a:buNone/>
            </a:pPr>
            <a:r>
              <a:rPr lang="ko-KR" altLang="en-US" sz="1150" dirty="0">
                <a:solidFill>
                  <a:srgbClr val="5D6C82"/>
                </a:solidFill>
                <a:latin typeface="Noto Sans KR" pitchFamily="34" charset="0"/>
                <a:ea typeface="Noto Sans KR" pitchFamily="34" charset="-122"/>
                <a:cs typeface="Noto Sans KR" pitchFamily="34" charset="-120"/>
              </a:rPr>
              <a:t>학습·시연 플랫폼  /  양팔·이동형 개발 방향</a:t>
            </a:r>
            <a:endParaRPr lang="ko-KR" sz="1150" dirty="0"/>
          </a:p>
        </p:txBody>
      </p:sp>
      <p:sp>
        <p:nvSpPr>
          <p:cNvPr id="22" name="Shape 17"/>
          <p:cNvSpPr/>
          <p:nvPr/>
        </p:nvSpPr>
        <p:spPr>
          <a:xfrm>
            <a:off x="758952" y="5934456"/>
            <a:ext cx="10671048" cy="411480"/>
          </a:xfrm>
          <a:prstGeom prst="rect">
            <a:avLst/>
          </a:prstGeom>
          <a:solidFill>
            <a:srgbClr val="245FF2"/>
          </a:solidFill>
          <a:ln w="12700">
            <a:solidFill>
              <a:srgbClr val="245FF2"/>
            </a:solidFill>
            <a:prstDash val="solid"/>
          </a:ln>
        </p:spPr>
      </p:sp>
      <p:sp>
        <p:nvSpPr>
          <p:cNvPr id="23" name="Text 18"/>
          <p:cNvSpPr/>
          <p:nvPr/>
        </p:nvSpPr>
        <p:spPr>
          <a:xfrm>
            <a:off x="1892808" y="5971032"/>
            <a:ext cx="1280160" cy="30175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보다</a:t>
            </a:r>
            <a:endParaRPr lang="ko-KR" sz="1900" dirty="0"/>
          </a:p>
        </p:txBody>
      </p:sp>
      <p:sp>
        <p:nvSpPr>
          <p:cNvPr id="24" name="Shape 19"/>
          <p:cNvSpPr/>
          <p:nvPr/>
        </p:nvSpPr>
        <p:spPr>
          <a:xfrm>
            <a:off x="3529584" y="6144768"/>
            <a:ext cx="676656" cy="0"/>
          </a:xfrm>
          <a:prstGeom prst="line">
            <a:avLst/>
          </a:prstGeom>
          <a:noFill/>
          <a:ln w="21590">
            <a:solidFill>
              <a:srgbClr val="FFFFFF"/>
            </a:solidFill>
            <a:prstDash val="solid"/>
            <a:headEnd type="none"/>
            <a:tailEnd type="triangle"/>
          </a:ln>
        </p:spPr>
      </p:sp>
      <p:sp>
        <p:nvSpPr>
          <p:cNvPr id="25" name="Text 20"/>
          <p:cNvSpPr/>
          <p:nvPr/>
        </p:nvSpPr>
        <p:spPr>
          <a:xfrm>
            <a:off x="4636008" y="5971032"/>
            <a:ext cx="2743200" cy="30175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상호작용하다</a:t>
            </a:r>
            <a:endParaRPr lang="ko-KR" sz="1900" dirty="0"/>
          </a:p>
        </p:txBody>
      </p:sp>
      <p:sp>
        <p:nvSpPr>
          <p:cNvPr id="26" name="Shape 21"/>
          <p:cNvSpPr/>
          <p:nvPr/>
        </p:nvSpPr>
        <p:spPr>
          <a:xfrm>
            <a:off x="7708392" y="6144768"/>
            <a:ext cx="704088" cy="0"/>
          </a:xfrm>
          <a:prstGeom prst="line">
            <a:avLst/>
          </a:prstGeom>
          <a:noFill/>
          <a:ln w="21590">
            <a:solidFill>
              <a:srgbClr val="FFFFFF"/>
            </a:solidFill>
            <a:prstDash val="solid"/>
            <a:headEnd type="none"/>
            <a:tailEnd type="triangle"/>
          </a:ln>
        </p:spPr>
      </p:sp>
      <p:sp>
        <p:nvSpPr>
          <p:cNvPr id="27" name="Text 22"/>
          <p:cNvSpPr/>
          <p:nvPr/>
        </p:nvSpPr>
        <p:spPr>
          <a:xfrm>
            <a:off x="8778240" y="5971032"/>
            <a:ext cx="1828800" cy="301752"/>
          </a:xfrm>
          <a:prstGeom prst="rect">
            <a:avLst/>
          </a:prstGeom>
          <a:noFill/>
          <a:ln/>
        </p:spPr>
        <p:txBody>
          <a:bodyPr wrap="square" lIns="0" tIns="0" rIns="0" bIns="0" rtlCol="0" anchor="ctr"/>
          <a:lstStyle/>
          <a:p>
            <a:pPr marL="0" indent="0" algn="ctr">
              <a:buNone/>
            </a:pPr>
            <a:r>
              <a:rPr lang="ko-KR" altLang="en-US" sz="1900" b="1" dirty="0">
                <a:solidFill>
                  <a:srgbClr val="FFFFFF"/>
                </a:solidFill>
                <a:latin typeface="Noto Sans KR" pitchFamily="34" charset="0"/>
                <a:ea typeface="Noto Sans KR" pitchFamily="34" charset="-122"/>
                <a:cs typeface="Noto Sans KR" pitchFamily="34" charset="-120"/>
              </a:rPr>
              <a:t>이해하다</a:t>
            </a:r>
            <a:endParaRPr lang="ko-KR"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경험을 조직의 피지컬 AI 준비로 연결합니다</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필요한 단계부터 시작하고, 작은 검증을 거쳐 다음 단계로 나아갑니다</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09</a:t>
            </a:r>
            <a:endParaRPr lang="ko-KR" sz="1000" dirty="0"/>
          </a:p>
        </p:txBody>
      </p:sp>
      <p:sp>
        <p:nvSpPr>
          <p:cNvPr id="8" name="Shape 6"/>
          <p:cNvSpPr/>
          <p:nvPr/>
        </p:nvSpPr>
        <p:spPr>
          <a:xfrm flipV="1">
            <a:off x="1005840" y="3730752"/>
            <a:ext cx="1947672" cy="374904"/>
          </a:xfrm>
          <a:prstGeom prst="line">
            <a:avLst/>
          </a:prstGeom>
          <a:noFill/>
          <a:ln w="50800">
            <a:solidFill>
              <a:srgbClr val="245FF2"/>
            </a:solidFill>
            <a:prstDash val="solid"/>
          </a:ln>
        </p:spPr>
      </p:sp>
      <p:sp>
        <p:nvSpPr>
          <p:cNvPr id="9" name="Shape 7"/>
          <p:cNvSpPr/>
          <p:nvPr/>
        </p:nvSpPr>
        <p:spPr>
          <a:xfrm flipV="1">
            <a:off x="2953512" y="3355848"/>
            <a:ext cx="1947672" cy="374904"/>
          </a:xfrm>
          <a:prstGeom prst="line">
            <a:avLst/>
          </a:prstGeom>
          <a:noFill/>
          <a:ln w="50800">
            <a:solidFill>
              <a:srgbClr val="245FF2"/>
            </a:solidFill>
            <a:prstDash val="solid"/>
          </a:ln>
        </p:spPr>
      </p:sp>
      <p:sp>
        <p:nvSpPr>
          <p:cNvPr id="10" name="Shape 8"/>
          <p:cNvSpPr/>
          <p:nvPr/>
        </p:nvSpPr>
        <p:spPr>
          <a:xfrm flipV="1">
            <a:off x="4901184" y="2980944"/>
            <a:ext cx="1947672" cy="374904"/>
          </a:xfrm>
          <a:prstGeom prst="line">
            <a:avLst/>
          </a:prstGeom>
          <a:noFill/>
          <a:ln w="50800">
            <a:solidFill>
              <a:srgbClr val="245FF2"/>
            </a:solidFill>
            <a:prstDash val="solid"/>
          </a:ln>
        </p:spPr>
      </p:sp>
      <p:sp>
        <p:nvSpPr>
          <p:cNvPr id="11" name="Shape 9"/>
          <p:cNvSpPr/>
          <p:nvPr/>
        </p:nvSpPr>
        <p:spPr>
          <a:xfrm flipV="1">
            <a:off x="6848856" y="2606040"/>
            <a:ext cx="1947672" cy="374904"/>
          </a:xfrm>
          <a:prstGeom prst="line">
            <a:avLst/>
          </a:prstGeom>
          <a:noFill/>
          <a:ln w="50800">
            <a:solidFill>
              <a:srgbClr val="23B8DA"/>
            </a:solidFill>
            <a:prstDash val="solid"/>
          </a:ln>
        </p:spPr>
      </p:sp>
      <p:sp>
        <p:nvSpPr>
          <p:cNvPr id="12" name="Shape 10"/>
          <p:cNvSpPr/>
          <p:nvPr/>
        </p:nvSpPr>
        <p:spPr>
          <a:xfrm flipV="1">
            <a:off x="8796528" y="2231136"/>
            <a:ext cx="1947672" cy="374904"/>
          </a:xfrm>
          <a:prstGeom prst="line">
            <a:avLst/>
          </a:prstGeom>
          <a:noFill/>
          <a:ln w="50800">
            <a:solidFill>
              <a:srgbClr val="23B8DA"/>
            </a:solidFill>
            <a:prstDash val="solid"/>
          </a:ln>
        </p:spPr>
      </p:sp>
      <p:sp>
        <p:nvSpPr>
          <p:cNvPr id="13" name="Shape 11"/>
          <p:cNvSpPr/>
          <p:nvPr/>
        </p:nvSpPr>
        <p:spPr>
          <a:xfrm>
            <a:off x="768096" y="3867912"/>
            <a:ext cx="475488" cy="475488"/>
          </a:xfrm>
          <a:prstGeom prst="ellipse">
            <a:avLst/>
          </a:prstGeom>
          <a:solidFill>
            <a:srgbClr val="245FF2"/>
          </a:solidFill>
          <a:ln w="12700">
            <a:solidFill>
              <a:srgbClr val="245FF2"/>
            </a:solidFill>
            <a:prstDash val="solid"/>
          </a:ln>
        </p:spPr>
      </p:sp>
      <p:sp>
        <p:nvSpPr>
          <p:cNvPr id="14" name="Text 12"/>
          <p:cNvSpPr/>
          <p:nvPr/>
        </p:nvSpPr>
        <p:spPr>
          <a:xfrm>
            <a:off x="768096" y="3986784"/>
            <a:ext cx="475488" cy="219456"/>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Noto Sans KR" pitchFamily="34" charset="0"/>
                <a:ea typeface="Noto Sans KR" pitchFamily="34" charset="-122"/>
                <a:cs typeface="Noto Sans KR" pitchFamily="34" charset="-120"/>
              </a:rPr>
              <a:t>01</a:t>
            </a:r>
            <a:endParaRPr lang="ko-KR" sz="1100" dirty="0"/>
          </a:p>
        </p:txBody>
      </p:sp>
      <p:sp>
        <p:nvSpPr>
          <p:cNvPr id="15" name="Text 13"/>
          <p:cNvSpPr/>
          <p:nvPr/>
        </p:nvSpPr>
        <p:spPr>
          <a:xfrm>
            <a:off x="301752" y="3273552"/>
            <a:ext cx="1554480" cy="347472"/>
          </a:xfrm>
          <a:prstGeom prst="rect">
            <a:avLst/>
          </a:prstGeom>
          <a:noFill/>
          <a:ln/>
        </p:spPr>
        <p:txBody>
          <a:bodyPr wrap="square" lIns="0" tIns="0" rIns="0" bIns="0" rtlCol="0" anchor="ctr"/>
          <a:lstStyle/>
          <a:p>
            <a:pPr marL="0" indent="0" algn="ctr">
              <a:buNone/>
            </a:pPr>
            <a:r>
              <a:rPr lang="ko-KR" altLang="en-US" sz="2000" b="1" dirty="0">
                <a:solidFill>
                  <a:srgbClr val="172A45"/>
                </a:solidFill>
                <a:latin typeface="Noto Sans KR" pitchFamily="34" charset="0"/>
                <a:ea typeface="Noto Sans KR" pitchFamily="34" charset="-122"/>
                <a:cs typeface="Noto Sans KR" pitchFamily="34" charset="-120"/>
              </a:rPr>
              <a:t>인식</a:t>
            </a:r>
            <a:endParaRPr lang="ko-KR" sz="2000" dirty="0"/>
          </a:p>
        </p:txBody>
      </p:sp>
      <p:sp>
        <p:nvSpPr>
          <p:cNvPr id="16" name="Text 14"/>
          <p:cNvSpPr/>
          <p:nvPr/>
        </p:nvSpPr>
        <p:spPr>
          <a:xfrm>
            <a:off x="201168" y="4590288"/>
            <a:ext cx="1682496" cy="512064"/>
          </a:xfrm>
          <a:prstGeom prst="rect">
            <a:avLst/>
          </a:prstGeom>
          <a:noFill/>
          <a:ln/>
        </p:spPr>
        <p:txBody>
          <a:bodyPr wrap="square" lIns="0" tIns="0" rIns="0" bIns="0" rtlCol="0" anchor="ctr"/>
          <a:lstStyle/>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피지컬 AI 세미나</a:t>
            </a:r>
            <a:endParaRPr lang="ko-KR" sz="1400" dirty="0"/>
          </a:p>
        </p:txBody>
      </p:sp>
      <p:sp>
        <p:nvSpPr>
          <p:cNvPr id="17" name="Text 15"/>
          <p:cNvSpPr/>
          <p:nvPr/>
        </p:nvSpPr>
        <p:spPr>
          <a:xfrm>
            <a:off x="201168" y="5148072"/>
            <a:ext cx="1700784" cy="466344"/>
          </a:xfrm>
          <a:prstGeom prst="rect">
            <a:avLst/>
          </a:prstGeom>
          <a:noFill/>
          <a:ln/>
        </p:spPr>
        <p:txBody>
          <a:bodyPr wrap="square" lIns="0" tIns="0" rIns="0" bIns="0" rtlCol="0" anchor="ctr"/>
          <a:lstStyle/>
          <a:p>
            <a:pPr marL="0" indent="0" algn="ctr">
              <a:buNone/>
            </a:pPr>
            <a:r>
              <a:rPr lang="ko-KR" altLang="en-US" sz="1250" dirty="0">
                <a:solidFill>
                  <a:srgbClr val="5D6C82"/>
                </a:solidFill>
                <a:latin typeface="Noto Sans KR" pitchFamily="34" charset="0"/>
                <a:ea typeface="Noto Sans KR" pitchFamily="34" charset="-122"/>
                <a:cs typeface="Noto Sans KR" pitchFamily="34" charset="-120"/>
              </a:rPr>
              <a:t>무엇이 달라질까?</a:t>
            </a:r>
            <a:endParaRPr lang="ko-KR" sz="1250" dirty="0"/>
          </a:p>
        </p:txBody>
      </p:sp>
      <p:sp>
        <p:nvSpPr>
          <p:cNvPr id="18" name="Shape 16"/>
          <p:cNvSpPr/>
          <p:nvPr/>
        </p:nvSpPr>
        <p:spPr>
          <a:xfrm>
            <a:off x="2715768" y="3493008"/>
            <a:ext cx="475488" cy="475488"/>
          </a:xfrm>
          <a:prstGeom prst="ellipse">
            <a:avLst/>
          </a:prstGeom>
          <a:solidFill>
            <a:srgbClr val="245FF2"/>
          </a:solidFill>
          <a:ln w="12700">
            <a:solidFill>
              <a:srgbClr val="245FF2"/>
            </a:solidFill>
            <a:prstDash val="solid"/>
          </a:ln>
        </p:spPr>
      </p:sp>
      <p:sp>
        <p:nvSpPr>
          <p:cNvPr id="19" name="Text 17"/>
          <p:cNvSpPr/>
          <p:nvPr/>
        </p:nvSpPr>
        <p:spPr>
          <a:xfrm>
            <a:off x="2715768" y="3611880"/>
            <a:ext cx="475488" cy="219456"/>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Noto Sans KR" pitchFamily="34" charset="0"/>
                <a:ea typeface="Noto Sans KR" pitchFamily="34" charset="-122"/>
                <a:cs typeface="Noto Sans KR" pitchFamily="34" charset="-120"/>
              </a:rPr>
              <a:t>02</a:t>
            </a:r>
            <a:endParaRPr lang="ko-KR" sz="1100" dirty="0"/>
          </a:p>
        </p:txBody>
      </p:sp>
      <p:sp>
        <p:nvSpPr>
          <p:cNvPr id="20" name="Text 18"/>
          <p:cNvSpPr/>
          <p:nvPr/>
        </p:nvSpPr>
        <p:spPr>
          <a:xfrm>
            <a:off x="2249424" y="2898648"/>
            <a:ext cx="1554480" cy="347472"/>
          </a:xfrm>
          <a:prstGeom prst="rect">
            <a:avLst/>
          </a:prstGeom>
          <a:noFill/>
          <a:ln/>
        </p:spPr>
        <p:txBody>
          <a:bodyPr wrap="square" lIns="0" tIns="0" rIns="0" bIns="0" rtlCol="0" anchor="ctr"/>
          <a:lstStyle/>
          <a:p>
            <a:pPr marL="0" indent="0" algn="ctr">
              <a:buNone/>
            </a:pPr>
            <a:r>
              <a:rPr lang="ko-KR" altLang="en-US" sz="2000" b="1" dirty="0">
                <a:solidFill>
                  <a:srgbClr val="172A45"/>
                </a:solidFill>
                <a:latin typeface="Noto Sans KR" pitchFamily="34" charset="0"/>
                <a:ea typeface="Noto Sans KR" pitchFamily="34" charset="-122"/>
                <a:cs typeface="Noto Sans KR" pitchFamily="34" charset="-120"/>
              </a:rPr>
              <a:t>체험</a:t>
            </a:r>
            <a:endParaRPr lang="ko-KR" sz="2000" dirty="0"/>
          </a:p>
        </p:txBody>
      </p:sp>
      <p:sp>
        <p:nvSpPr>
          <p:cNvPr id="21" name="Text 19"/>
          <p:cNvSpPr/>
          <p:nvPr/>
        </p:nvSpPr>
        <p:spPr>
          <a:xfrm>
            <a:off x="2148840" y="4215384"/>
            <a:ext cx="1682496" cy="512064"/>
          </a:xfrm>
          <a:prstGeom prst="rect">
            <a:avLst/>
          </a:prstGeom>
          <a:noFill/>
          <a:ln/>
        </p:spPr>
        <p:txBody>
          <a:bodyPr wrap="square" lIns="0" tIns="0" rIns="0" bIns="0" rtlCol="0" anchor="ctr"/>
          <a:lstStyle/>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G1·GO2</a:t>
            </a:r>
            <a:endParaRPr lang="ko-KR" sz="1400" dirty="0"/>
          </a:p>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GeminiBOT</a:t>
            </a:r>
            <a:endParaRPr lang="ko-KR" sz="1400" dirty="0"/>
          </a:p>
        </p:txBody>
      </p:sp>
      <p:sp>
        <p:nvSpPr>
          <p:cNvPr id="22" name="Text 20"/>
          <p:cNvSpPr/>
          <p:nvPr/>
        </p:nvSpPr>
        <p:spPr>
          <a:xfrm>
            <a:off x="2148840" y="4773168"/>
            <a:ext cx="1700784" cy="466344"/>
          </a:xfrm>
          <a:prstGeom prst="rect">
            <a:avLst/>
          </a:prstGeom>
          <a:noFill/>
          <a:ln/>
        </p:spPr>
        <p:txBody>
          <a:bodyPr wrap="square" lIns="0" tIns="0" rIns="0" bIns="0" rtlCol="0" anchor="ctr"/>
          <a:lstStyle/>
          <a:p>
            <a:pPr marL="0" indent="0" algn="ctr">
              <a:buNone/>
            </a:pPr>
            <a:r>
              <a:rPr lang="ko-KR" altLang="en-US" sz="1250" dirty="0">
                <a:solidFill>
                  <a:srgbClr val="5D6C82"/>
                </a:solidFill>
                <a:latin typeface="Noto Sans KR" pitchFamily="34" charset="0"/>
                <a:ea typeface="Noto Sans KR" pitchFamily="34" charset="-122"/>
                <a:cs typeface="Noto Sans KR" pitchFamily="34" charset="-120"/>
              </a:rPr>
              <a:t>직접 보고 경험하기</a:t>
            </a:r>
            <a:endParaRPr lang="ko-KR" sz="1250" dirty="0"/>
          </a:p>
        </p:txBody>
      </p:sp>
      <p:sp>
        <p:nvSpPr>
          <p:cNvPr id="23" name="Shape 21"/>
          <p:cNvSpPr/>
          <p:nvPr/>
        </p:nvSpPr>
        <p:spPr>
          <a:xfrm>
            <a:off x="4663440" y="3118104"/>
            <a:ext cx="475488" cy="475488"/>
          </a:xfrm>
          <a:prstGeom prst="ellipse">
            <a:avLst/>
          </a:prstGeom>
          <a:solidFill>
            <a:srgbClr val="245FF2"/>
          </a:solidFill>
          <a:ln w="12700">
            <a:solidFill>
              <a:srgbClr val="245FF2"/>
            </a:solidFill>
            <a:prstDash val="solid"/>
          </a:ln>
        </p:spPr>
      </p:sp>
      <p:sp>
        <p:nvSpPr>
          <p:cNvPr id="24" name="Text 22"/>
          <p:cNvSpPr/>
          <p:nvPr/>
        </p:nvSpPr>
        <p:spPr>
          <a:xfrm>
            <a:off x="4663440" y="3236976"/>
            <a:ext cx="475488" cy="219456"/>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Noto Sans KR" pitchFamily="34" charset="0"/>
                <a:ea typeface="Noto Sans KR" pitchFamily="34" charset="-122"/>
                <a:cs typeface="Noto Sans KR" pitchFamily="34" charset="-120"/>
              </a:rPr>
              <a:t>03</a:t>
            </a:r>
            <a:endParaRPr lang="ko-KR" sz="1100" dirty="0"/>
          </a:p>
        </p:txBody>
      </p:sp>
      <p:sp>
        <p:nvSpPr>
          <p:cNvPr id="25" name="Text 23"/>
          <p:cNvSpPr/>
          <p:nvPr/>
        </p:nvSpPr>
        <p:spPr>
          <a:xfrm>
            <a:off x="4197096" y="2523744"/>
            <a:ext cx="1554480" cy="347472"/>
          </a:xfrm>
          <a:prstGeom prst="rect">
            <a:avLst/>
          </a:prstGeom>
          <a:noFill/>
          <a:ln/>
        </p:spPr>
        <p:txBody>
          <a:bodyPr wrap="square" lIns="0" tIns="0" rIns="0" bIns="0" rtlCol="0" anchor="ctr"/>
          <a:lstStyle/>
          <a:p>
            <a:pPr marL="0" indent="0" algn="ctr">
              <a:buNone/>
            </a:pPr>
            <a:r>
              <a:rPr lang="ko-KR" altLang="en-US" sz="2000" b="1" dirty="0">
                <a:solidFill>
                  <a:srgbClr val="172A45"/>
                </a:solidFill>
                <a:latin typeface="Noto Sans KR" pitchFamily="34" charset="0"/>
                <a:ea typeface="Noto Sans KR" pitchFamily="34" charset="-122"/>
                <a:cs typeface="Noto Sans KR" pitchFamily="34" charset="-120"/>
              </a:rPr>
              <a:t>교육</a:t>
            </a:r>
            <a:endParaRPr lang="ko-KR" sz="2000" dirty="0"/>
          </a:p>
        </p:txBody>
      </p:sp>
      <p:sp>
        <p:nvSpPr>
          <p:cNvPr id="26" name="Text 24"/>
          <p:cNvSpPr/>
          <p:nvPr/>
        </p:nvSpPr>
        <p:spPr>
          <a:xfrm>
            <a:off x="4096512" y="3840480"/>
            <a:ext cx="1682496" cy="512064"/>
          </a:xfrm>
          <a:prstGeom prst="rect">
            <a:avLst/>
          </a:prstGeom>
          <a:noFill/>
          <a:ln/>
        </p:spPr>
        <p:txBody>
          <a:bodyPr wrap="square" lIns="0" tIns="0" rIns="0" bIns="0" rtlCol="0" anchor="ctr"/>
          <a:lstStyle/>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학생·재직자 학습</a:t>
            </a:r>
            <a:endParaRPr lang="ko-KR" sz="1400" dirty="0"/>
          </a:p>
        </p:txBody>
      </p:sp>
      <p:sp>
        <p:nvSpPr>
          <p:cNvPr id="27" name="Text 25"/>
          <p:cNvSpPr/>
          <p:nvPr/>
        </p:nvSpPr>
        <p:spPr>
          <a:xfrm>
            <a:off x="4096512" y="4398264"/>
            <a:ext cx="1700784" cy="466344"/>
          </a:xfrm>
          <a:prstGeom prst="rect">
            <a:avLst/>
          </a:prstGeom>
          <a:noFill/>
          <a:ln/>
        </p:spPr>
        <p:txBody>
          <a:bodyPr wrap="square" lIns="0" tIns="0" rIns="0" bIns="0" rtlCol="0" anchor="ctr"/>
          <a:lstStyle/>
          <a:p>
            <a:pPr marL="0" indent="0" algn="ctr">
              <a:buNone/>
            </a:pPr>
            <a:r>
              <a:rPr lang="ko-KR" altLang="en-US" sz="1250" dirty="0">
                <a:solidFill>
                  <a:srgbClr val="5D6C82"/>
                </a:solidFill>
                <a:latin typeface="Noto Sans KR" pitchFamily="34" charset="0"/>
                <a:ea typeface="Noto Sans KR" pitchFamily="34" charset="-122"/>
                <a:cs typeface="Noto Sans KR" pitchFamily="34" charset="-120"/>
              </a:rPr>
              <a:t>어떻게 작동할까?</a:t>
            </a:r>
            <a:endParaRPr lang="ko-KR" sz="1250" dirty="0"/>
          </a:p>
        </p:txBody>
      </p:sp>
      <p:sp>
        <p:nvSpPr>
          <p:cNvPr id="28" name="Shape 26"/>
          <p:cNvSpPr/>
          <p:nvPr/>
        </p:nvSpPr>
        <p:spPr>
          <a:xfrm>
            <a:off x="6611112" y="2743200"/>
            <a:ext cx="475488" cy="475488"/>
          </a:xfrm>
          <a:prstGeom prst="ellipse">
            <a:avLst/>
          </a:prstGeom>
          <a:solidFill>
            <a:srgbClr val="245FF2"/>
          </a:solidFill>
          <a:ln w="12700">
            <a:solidFill>
              <a:srgbClr val="245FF2"/>
            </a:solidFill>
            <a:prstDash val="solid"/>
          </a:ln>
        </p:spPr>
      </p:sp>
      <p:sp>
        <p:nvSpPr>
          <p:cNvPr id="29" name="Text 27"/>
          <p:cNvSpPr/>
          <p:nvPr/>
        </p:nvSpPr>
        <p:spPr>
          <a:xfrm>
            <a:off x="6611112" y="2862072"/>
            <a:ext cx="475488" cy="219456"/>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Noto Sans KR" pitchFamily="34" charset="0"/>
                <a:ea typeface="Noto Sans KR" pitchFamily="34" charset="-122"/>
                <a:cs typeface="Noto Sans KR" pitchFamily="34" charset="-120"/>
              </a:rPr>
              <a:t>04</a:t>
            </a:r>
            <a:endParaRPr lang="ko-KR" sz="1100" dirty="0"/>
          </a:p>
        </p:txBody>
      </p:sp>
      <p:sp>
        <p:nvSpPr>
          <p:cNvPr id="30" name="Text 28"/>
          <p:cNvSpPr/>
          <p:nvPr/>
        </p:nvSpPr>
        <p:spPr>
          <a:xfrm>
            <a:off x="6144768" y="2148840"/>
            <a:ext cx="1554480" cy="347472"/>
          </a:xfrm>
          <a:prstGeom prst="rect">
            <a:avLst/>
          </a:prstGeom>
          <a:noFill/>
          <a:ln/>
        </p:spPr>
        <p:txBody>
          <a:bodyPr wrap="square" lIns="0" tIns="0" rIns="0" bIns="0" rtlCol="0" anchor="ctr"/>
          <a:lstStyle/>
          <a:p>
            <a:pPr marL="0" indent="0" algn="ctr">
              <a:buNone/>
            </a:pPr>
            <a:r>
              <a:rPr lang="ko-KR" altLang="en-US" sz="2000" b="1" dirty="0">
                <a:solidFill>
                  <a:srgbClr val="172A45"/>
                </a:solidFill>
                <a:latin typeface="Noto Sans KR" pitchFamily="34" charset="0"/>
                <a:ea typeface="Noto Sans KR" pitchFamily="34" charset="-122"/>
                <a:cs typeface="Noto Sans KR" pitchFamily="34" charset="-120"/>
              </a:rPr>
              <a:t>컨설팅</a:t>
            </a:r>
            <a:endParaRPr lang="ko-KR" sz="2000" dirty="0"/>
          </a:p>
        </p:txBody>
      </p:sp>
      <p:sp>
        <p:nvSpPr>
          <p:cNvPr id="31" name="Text 29"/>
          <p:cNvSpPr/>
          <p:nvPr/>
        </p:nvSpPr>
        <p:spPr>
          <a:xfrm>
            <a:off x="6044184" y="3465576"/>
            <a:ext cx="1682496" cy="512064"/>
          </a:xfrm>
          <a:prstGeom prst="rect">
            <a:avLst/>
          </a:prstGeom>
          <a:noFill/>
          <a:ln/>
        </p:spPr>
        <p:txBody>
          <a:bodyPr wrap="square" lIns="0" tIns="0" rIns="0" bIns="0" rtlCol="0" anchor="ctr"/>
          <a:lstStyle/>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산업·업무 연결</a:t>
            </a:r>
            <a:endParaRPr lang="ko-KR" sz="1400" dirty="0"/>
          </a:p>
        </p:txBody>
      </p:sp>
      <p:sp>
        <p:nvSpPr>
          <p:cNvPr id="32" name="Text 30"/>
          <p:cNvSpPr/>
          <p:nvPr/>
        </p:nvSpPr>
        <p:spPr>
          <a:xfrm>
            <a:off x="6044184" y="4023360"/>
            <a:ext cx="1700784" cy="466344"/>
          </a:xfrm>
          <a:prstGeom prst="rect">
            <a:avLst/>
          </a:prstGeom>
          <a:noFill/>
          <a:ln/>
        </p:spPr>
        <p:txBody>
          <a:bodyPr wrap="square" lIns="0" tIns="0" rIns="0" bIns="0" rtlCol="0" anchor="ctr"/>
          <a:lstStyle/>
          <a:p>
            <a:pPr marL="0" indent="0" algn="ctr">
              <a:buNone/>
            </a:pPr>
            <a:r>
              <a:rPr lang="ko-KR" altLang="en-US" sz="1250" dirty="0">
                <a:solidFill>
                  <a:srgbClr val="5D6C82"/>
                </a:solidFill>
                <a:latin typeface="Noto Sans KR" pitchFamily="34" charset="0"/>
                <a:ea typeface="Noto Sans KR" pitchFamily="34" charset="-122"/>
                <a:cs typeface="Noto Sans KR" pitchFamily="34" charset="-120"/>
              </a:rPr>
              <a:t>어디에 가치가 있을까?</a:t>
            </a:r>
            <a:endParaRPr lang="ko-KR" sz="1250" dirty="0"/>
          </a:p>
        </p:txBody>
      </p:sp>
      <p:sp>
        <p:nvSpPr>
          <p:cNvPr id="33" name="Shape 31"/>
          <p:cNvSpPr/>
          <p:nvPr/>
        </p:nvSpPr>
        <p:spPr>
          <a:xfrm>
            <a:off x="8558784" y="2368296"/>
            <a:ext cx="475488" cy="475488"/>
          </a:xfrm>
          <a:prstGeom prst="ellipse">
            <a:avLst/>
          </a:prstGeom>
          <a:solidFill>
            <a:srgbClr val="245FF2"/>
          </a:solidFill>
          <a:ln w="12700">
            <a:solidFill>
              <a:srgbClr val="245FF2"/>
            </a:solidFill>
            <a:prstDash val="solid"/>
          </a:ln>
        </p:spPr>
      </p:sp>
      <p:sp>
        <p:nvSpPr>
          <p:cNvPr id="34" name="Text 32"/>
          <p:cNvSpPr/>
          <p:nvPr/>
        </p:nvSpPr>
        <p:spPr>
          <a:xfrm>
            <a:off x="8558784" y="2487168"/>
            <a:ext cx="475488" cy="219456"/>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Noto Sans KR" pitchFamily="34" charset="0"/>
                <a:ea typeface="Noto Sans KR" pitchFamily="34" charset="-122"/>
                <a:cs typeface="Noto Sans KR" pitchFamily="34" charset="-120"/>
              </a:rPr>
              <a:t>05</a:t>
            </a:r>
            <a:endParaRPr lang="ko-KR" sz="1100" dirty="0"/>
          </a:p>
        </p:txBody>
      </p:sp>
      <p:sp>
        <p:nvSpPr>
          <p:cNvPr id="35" name="Text 33"/>
          <p:cNvSpPr/>
          <p:nvPr/>
        </p:nvSpPr>
        <p:spPr>
          <a:xfrm>
            <a:off x="8092440" y="1773936"/>
            <a:ext cx="1554480" cy="347472"/>
          </a:xfrm>
          <a:prstGeom prst="rect">
            <a:avLst/>
          </a:prstGeom>
          <a:noFill/>
          <a:ln/>
        </p:spPr>
        <p:txBody>
          <a:bodyPr wrap="square" lIns="0" tIns="0" rIns="0" bIns="0" rtlCol="0" anchor="ctr"/>
          <a:lstStyle/>
          <a:p>
            <a:pPr marL="0" indent="0" algn="ctr">
              <a:buNone/>
            </a:pPr>
            <a:r>
              <a:rPr lang="ko-KR" altLang="en-US" sz="2000" b="1" dirty="0">
                <a:solidFill>
                  <a:srgbClr val="172A45"/>
                </a:solidFill>
                <a:latin typeface="Noto Sans KR" pitchFamily="34" charset="0"/>
                <a:ea typeface="Noto Sans KR" pitchFamily="34" charset="-122"/>
                <a:cs typeface="Noto Sans KR" pitchFamily="34" charset="-120"/>
              </a:rPr>
              <a:t>Demo / PoC</a:t>
            </a:r>
            <a:endParaRPr lang="ko-KR" sz="2000" dirty="0"/>
          </a:p>
        </p:txBody>
      </p:sp>
      <p:sp>
        <p:nvSpPr>
          <p:cNvPr id="36" name="Text 34"/>
          <p:cNvSpPr/>
          <p:nvPr/>
        </p:nvSpPr>
        <p:spPr>
          <a:xfrm>
            <a:off x="7991856" y="3090672"/>
            <a:ext cx="1682496" cy="512064"/>
          </a:xfrm>
          <a:prstGeom prst="rect">
            <a:avLst/>
          </a:prstGeom>
          <a:noFill/>
          <a:ln/>
        </p:spPr>
        <p:txBody>
          <a:bodyPr wrap="square" lIns="0" tIns="0" rIns="0" bIns="0" rtlCol="0" anchor="ctr"/>
          <a:lstStyle/>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소규모 실증</a:t>
            </a:r>
            <a:endParaRPr lang="ko-KR" sz="1400" dirty="0"/>
          </a:p>
        </p:txBody>
      </p:sp>
      <p:sp>
        <p:nvSpPr>
          <p:cNvPr id="37" name="Text 35"/>
          <p:cNvSpPr/>
          <p:nvPr/>
        </p:nvSpPr>
        <p:spPr>
          <a:xfrm>
            <a:off x="7991856" y="3648456"/>
            <a:ext cx="1700784" cy="466344"/>
          </a:xfrm>
          <a:prstGeom prst="rect">
            <a:avLst/>
          </a:prstGeom>
          <a:noFill/>
          <a:ln/>
        </p:spPr>
        <p:txBody>
          <a:bodyPr wrap="square" lIns="0" tIns="0" rIns="0" bIns="0" rtlCol="0" anchor="ctr"/>
          <a:lstStyle/>
          <a:p>
            <a:pPr marL="0" indent="0" algn="ctr">
              <a:buNone/>
            </a:pPr>
            <a:r>
              <a:rPr lang="ko-KR" altLang="en-US" sz="1250" dirty="0">
                <a:solidFill>
                  <a:srgbClr val="5D6C82"/>
                </a:solidFill>
                <a:latin typeface="Noto Sans KR" pitchFamily="34" charset="0"/>
                <a:ea typeface="Noto Sans KR" pitchFamily="34" charset="-122"/>
                <a:cs typeface="Noto Sans KR" pitchFamily="34" charset="-120"/>
              </a:rPr>
              <a:t>우리 환경에서도 될까?</a:t>
            </a:r>
            <a:endParaRPr lang="ko-KR" sz="1250" dirty="0"/>
          </a:p>
        </p:txBody>
      </p:sp>
      <p:sp>
        <p:nvSpPr>
          <p:cNvPr id="38" name="Shape 36"/>
          <p:cNvSpPr/>
          <p:nvPr/>
        </p:nvSpPr>
        <p:spPr>
          <a:xfrm>
            <a:off x="10506456" y="1993392"/>
            <a:ext cx="475488" cy="475488"/>
          </a:xfrm>
          <a:prstGeom prst="ellipse">
            <a:avLst/>
          </a:prstGeom>
          <a:solidFill>
            <a:srgbClr val="168876"/>
          </a:solidFill>
          <a:ln w="12700">
            <a:solidFill>
              <a:srgbClr val="168876"/>
            </a:solidFill>
            <a:prstDash val="solid"/>
          </a:ln>
        </p:spPr>
      </p:sp>
      <p:sp>
        <p:nvSpPr>
          <p:cNvPr id="39" name="Text 37"/>
          <p:cNvSpPr/>
          <p:nvPr/>
        </p:nvSpPr>
        <p:spPr>
          <a:xfrm>
            <a:off x="10506456" y="2112264"/>
            <a:ext cx="475488" cy="219456"/>
          </a:xfrm>
          <a:prstGeom prst="rect">
            <a:avLst/>
          </a:prstGeom>
          <a:noFill/>
          <a:ln/>
        </p:spPr>
        <p:txBody>
          <a:bodyPr wrap="square" lIns="0" tIns="0" rIns="0" bIns="0" rtlCol="0" anchor="ctr"/>
          <a:lstStyle/>
          <a:p>
            <a:pPr marL="0" indent="0" algn="ctr">
              <a:buNone/>
            </a:pPr>
            <a:r>
              <a:rPr lang="ko-KR" altLang="en-US" sz="1100" b="1" dirty="0">
                <a:solidFill>
                  <a:srgbClr val="FFFFFF"/>
                </a:solidFill>
                <a:latin typeface="Noto Sans KR" pitchFamily="34" charset="0"/>
                <a:ea typeface="Noto Sans KR" pitchFamily="34" charset="-122"/>
                <a:cs typeface="Noto Sans KR" pitchFamily="34" charset="-120"/>
              </a:rPr>
              <a:t>06</a:t>
            </a:r>
            <a:endParaRPr lang="ko-KR" sz="1100" dirty="0"/>
          </a:p>
        </p:txBody>
      </p:sp>
      <p:sp>
        <p:nvSpPr>
          <p:cNvPr id="40" name="Text 38"/>
          <p:cNvSpPr/>
          <p:nvPr/>
        </p:nvSpPr>
        <p:spPr>
          <a:xfrm>
            <a:off x="10040112" y="1399032"/>
            <a:ext cx="1554480" cy="347472"/>
          </a:xfrm>
          <a:prstGeom prst="rect">
            <a:avLst/>
          </a:prstGeom>
          <a:noFill/>
          <a:ln/>
        </p:spPr>
        <p:txBody>
          <a:bodyPr wrap="square" lIns="0" tIns="0" rIns="0" bIns="0" rtlCol="0" anchor="ctr"/>
          <a:lstStyle/>
          <a:p>
            <a:pPr marL="0" indent="0" algn="ctr">
              <a:buNone/>
            </a:pPr>
            <a:r>
              <a:rPr lang="ko-KR" altLang="en-US" sz="2000" b="1" dirty="0">
                <a:solidFill>
                  <a:srgbClr val="172A45"/>
                </a:solidFill>
                <a:latin typeface="Noto Sans KR" pitchFamily="34" charset="0"/>
                <a:ea typeface="Noto Sans KR" pitchFamily="34" charset="-122"/>
                <a:cs typeface="Noto Sans KR" pitchFamily="34" charset="-120"/>
              </a:rPr>
              <a:t>도입·지원</a:t>
            </a:r>
            <a:endParaRPr lang="ko-KR" sz="2000" dirty="0"/>
          </a:p>
        </p:txBody>
      </p:sp>
      <p:sp>
        <p:nvSpPr>
          <p:cNvPr id="41" name="Text 39"/>
          <p:cNvSpPr/>
          <p:nvPr/>
        </p:nvSpPr>
        <p:spPr>
          <a:xfrm>
            <a:off x="9939528" y="2715768"/>
            <a:ext cx="1682496" cy="512064"/>
          </a:xfrm>
          <a:prstGeom prst="rect">
            <a:avLst/>
          </a:prstGeom>
          <a:noFill/>
          <a:ln/>
        </p:spPr>
        <p:txBody>
          <a:bodyPr wrap="square" lIns="0" tIns="0" rIns="0" bIns="0" rtlCol="0" anchor="ctr"/>
          <a:lstStyle/>
          <a:p>
            <a:pPr marL="0" indent="0" algn="ctr">
              <a:buNone/>
            </a:pPr>
            <a:r>
              <a:rPr lang="ko-KR" altLang="en-US" sz="1400" b="1" dirty="0">
                <a:solidFill>
                  <a:srgbClr val="245FF2"/>
                </a:solidFill>
                <a:latin typeface="Noto Sans KR" pitchFamily="34" charset="0"/>
                <a:ea typeface="Noto Sans KR" pitchFamily="34" charset="-122"/>
                <a:cs typeface="Noto Sans KR" pitchFamily="34" charset="-120"/>
              </a:rPr>
              <a:t>교육·운영 지원</a:t>
            </a:r>
            <a:endParaRPr lang="ko-KR" sz="1400" dirty="0"/>
          </a:p>
        </p:txBody>
      </p:sp>
      <p:sp>
        <p:nvSpPr>
          <p:cNvPr id="42" name="Text 40"/>
          <p:cNvSpPr/>
          <p:nvPr/>
        </p:nvSpPr>
        <p:spPr>
          <a:xfrm>
            <a:off x="9939528" y="3273552"/>
            <a:ext cx="1700784" cy="466344"/>
          </a:xfrm>
          <a:prstGeom prst="rect">
            <a:avLst/>
          </a:prstGeom>
          <a:noFill/>
          <a:ln/>
        </p:spPr>
        <p:txBody>
          <a:bodyPr wrap="square" lIns="0" tIns="0" rIns="0" bIns="0" rtlCol="0" anchor="ctr"/>
          <a:lstStyle/>
          <a:p>
            <a:pPr marL="0" indent="0" algn="ctr">
              <a:buNone/>
            </a:pPr>
            <a:r>
              <a:rPr lang="ko-KR" altLang="en-US" sz="1250" dirty="0">
                <a:solidFill>
                  <a:srgbClr val="5D6C82"/>
                </a:solidFill>
                <a:latin typeface="Noto Sans KR" pitchFamily="34" charset="0"/>
                <a:ea typeface="Noto Sans KR" pitchFamily="34" charset="-122"/>
                <a:cs typeface="Noto Sans KR" pitchFamily="34" charset="-120"/>
              </a:rPr>
              <a:t>지속 활용을 준비하기</a:t>
            </a:r>
            <a:endParaRPr lang="ko-KR" sz="1250" dirty="0"/>
          </a:p>
        </p:txBody>
      </p:sp>
      <p:sp>
        <p:nvSpPr>
          <p:cNvPr id="43" name="Shape 41"/>
          <p:cNvSpPr/>
          <p:nvPr/>
        </p:nvSpPr>
        <p:spPr>
          <a:xfrm>
            <a:off x="841248" y="5696712"/>
            <a:ext cx="10515600" cy="0"/>
          </a:xfrm>
          <a:prstGeom prst="line">
            <a:avLst/>
          </a:prstGeom>
          <a:noFill/>
          <a:ln w="10160">
            <a:solidFill>
              <a:srgbClr val="D9E2ED"/>
            </a:solidFill>
            <a:prstDash val="solid"/>
          </a:ln>
        </p:spPr>
      </p:sp>
      <p:sp>
        <p:nvSpPr>
          <p:cNvPr id="44" name="Text 42"/>
          <p:cNvSpPr/>
          <p:nvPr/>
        </p:nvSpPr>
        <p:spPr>
          <a:xfrm>
            <a:off x="850392" y="5888736"/>
            <a:ext cx="10497312" cy="365760"/>
          </a:xfrm>
          <a:prstGeom prst="rect">
            <a:avLst/>
          </a:prstGeom>
          <a:noFill/>
          <a:ln/>
        </p:spPr>
        <p:txBody>
          <a:bodyPr wrap="square" lIns="0" tIns="0" rIns="0" bIns="0" rtlCol="0" anchor="ctr"/>
          <a:lstStyle/>
          <a:p>
            <a:pPr marL="0" indent="0" algn="ctr">
              <a:buNone/>
            </a:pPr>
            <a:r>
              <a:rPr lang="ko-KR" altLang="en-US" sz="2200" b="1" dirty="0">
                <a:solidFill>
                  <a:srgbClr val="172A45"/>
                </a:solidFill>
                <a:latin typeface="Noto Sans KR" pitchFamily="34" charset="0"/>
                <a:ea typeface="Noto Sans KR" pitchFamily="34" charset="-122"/>
                <a:cs typeface="Noto Sans KR" pitchFamily="34" charset="-120"/>
              </a:rPr>
              <a:t>핵심은 도입 속도보다, 우리 조직에 맞는 판단 근거를 쌓는 것입니다</a:t>
            </a:r>
            <a:endParaRPr lang="ko-KR"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38912"/>
            <a:ext cx="73152" cy="420624"/>
          </a:xfrm>
          <a:prstGeom prst="rect">
            <a:avLst/>
          </a:prstGeom>
          <a:solidFill>
            <a:srgbClr val="245FF2"/>
          </a:solidFill>
          <a:ln w="12700">
            <a:solidFill>
              <a:srgbClr val="245FF2"/>
            </a:solidFill>
            <a:prstDash val="solid"/>
          </a:ln>
        </p:spPr>
      </p:sp>
      <p:sp>
        <p:nvSpPr>
          <p:cNvPr id="3" name="Text 1"/>
          <p:cNvSpPr/>
          <p:nvPr/>
        </p:nvSpPr>
        <p:spPr>
          <a:xfrm>
            <a:off x="758952" y="384048"/>
            <a:ext cx="10835640" cy="557784"/>
          </a:xfrm>
          <a:prstGeom prst="rect">
            <a:avLst/>
          </a:prstGeom>
          <a:noFill/>
          <a:ln/>
        </p:spPr>
        <p:txBody>
          <a:bodyPr wrap="square" lIns="0" tIns="0" rIns="0" bIns="0" rtlCol="0" anchor="ctr"/>
          <a:lstStyle/>
          <a:p>
            <a:pPr marL="0" indent="0">
              <a:buNone/>
            </a:pPr>
            <a:r>
              <a:rPr lang="ko-KR" altLang="en-US" sz="3000" b="1" dirty="0">
                <a:solidFill>
                  <a:srgbClr val="172A45"/>
                </a:solidFill>
                <a:latin typeface="Noto Sans KR" pitchFamily="34" charset="0"/>
                <a:ea typeface="Noto Sans KR" pitchFamily="34" charset="-122"/>
                <a:cs typeface="Noto Sans KR" pitchFamily="34" charset="-120"/>
              </a:rPr>
              <a:t>고객의 목적에 따라, 준비의 경로도 달라집니다</a:t>
            </a:r>
            <a:endParaRPr lang="ko-KR" sz="3000" dirty="0"/>
          </a:p>
        </p:txBody>
      </p:sp>
      <p:sp>
        <p:nvSpPr>
          <p:cNvPr id="4" name="Text 2"/>
          <p:cNvSpPr/>
          <p:nvPr/>
        </p:nvSpPr>
        <p:spPr>
          <a:xfrm>
            <a:off x="758952" y="1060704"/>
            <a:ext cx="10881360" cy="411480"/>
          </a:xfrm>
          <a:prstGeom prst="rect">
            <a:avLst/>
          </a:prstGeom>
          <a:noFill/>
          <a:ln/>
        </p:spPr>
        <p:txBody>
          <a:bodyPr wrap="square" lIns="0" tIns="0" rIns="0" bIns="0" rtlCol="0" anchor="ctr"/>
          <a:lstStyle/>
          <a:p>
            <a:pPr marL="0" indent="0">
              <a:buNone/>
            </a:pPr>
            <a:r>
              <a:rPr lang="ko-KR" altLang="en-US" sz="1600" dirty="0">
                <a:solidFill>
                  <a:srgbClr val="5D6C82"/>
                </a:solidFill>
                <a:latin typeface="Noto Sans KR" pitchFamily="34" charset="0"/>
                <a:ea typeface="Noto Sans KR" pitchFamily="34" charset="-122"/>
                <a:cs typeface="Noto Sans KR" pitchFamily="34" charset="-120"/>
              </a:rPr>
              <a:t>같은 피지컬 AI 기반에서 출발해 고객에게 필요한 경험과 결과로 연결합니다</a:t>
            </a:r>
            <a:endParaRPr lang="ko-KR" sz="1600" dirty="0"/>
          </a:p>
        </p:txBody>
      </p:sp>
      <p:sp>
        <p:nvSpPr>
          <p:cNvPr id="5" name="Shape 3"/>
          <p:cNvSpPr/>
          <p:nvPr/>
        </p:nvSpPr>
        <p:spPr>
          <a:xfrm>
            <a:off x="502920" y="6473952"/>
            <a:ext cx="11183112" cy="0"/>
          </a:xfrm>
          <a:prstGeom prst="line">
            <a:avLst/>
          </a:prstGeom>
          <a:noFill/>
          <a:ln w="8890">
            <a:solidFill>
              <a:srgbClr val="D9E2ED"/>
            </a:solidFill>
            <a:prstDash val="solid"/>
          </a:ln>
        </p:spPr>
      </p:sp>
      <p:sp>
        <p:nvSpPr>
          <p:cNvPr id="6" name="Text 4"/>
          <p:cNvSpPr/>
          <p:nvPr/>
        </p:nvSpPr>
        <p:spPr>
          <a:xfrm>
            <a:off x="530352" y="6556248"/>
            <a:ext cx="2743200" cy="164592"/>
          </a:xfrm>
          <a:prstGeom prst="rect">
            <a:avLst/>
          </a:prstGeom>
          <a:noFill/>
          <a:ln/>
        </p:spPr>
        <p:txBody>
          <a:bodyPr wrap="square" lIns="0" tIns="0" rIns="0" bIns="0" rtlCol="0" anchor="ctr"/>
          <a:lstStyle/>
          <a:p>
            <a:pPr marL="0" indent="0">
              <a:buNone/>
            </a:pPr>
            <a:r>
              <a:rPr lang="ko-KR" altLang="en-US" sz="900" dirty="0">
                <a:solidFill>
                  <a:srgbClr val="7B899B"/>
                </a:solidFill>
                <a:latin typeface="Noto Sans KR" pitchFamily="34" charset="0"/>
                <a:ea typeface="Noto Sans KR" pitchFamily="34" charset="-122"/>
                <a:cs typeface="Noto Sans KR" pitchFamily="34" charset="-120"/>
              </a:rPr>
              <a:t>지니에듀테크</a:t>
            </a:r>
            <a:endParaRPr lang="ko-KR" sz="900" dirty="0"/>
          </a:p>
        </p:txBody>
      </p:sp>
      <p:sp>
        <p:nvSpPr>
          <p:cNvPr id="7" name="Text 5"/>
          <p:cNvSpPr/>
          <p:nvPr/>
        </p:nvSpPr>
        <p:spPr>
          <a:xfrm>
            <a:off x="11183112" y="6528816"/>
            <a:ext cx="475488" cy="210312"/>
          </a:xfrm>
          <a:prstGeom prst="rect">
            <a:avLst/>
          </a:prstGeom>
          <a:noFill/>
          <a:ln/>
        </p:spPr>
        <p:txBody>
          <a:bodyPr wrap="square" lIns="0" tIns="0" rIns="0" bIns="0" rtlCol="0" anchor="ctr"/>
          <a:lstStyle/>
          <a:p>
            <a:pPr marL="0" indent="0" algn="r">
              <a:buNone/>
            </a:pPr>
            <a:r>
              <a:rPr lang="ko-KR" altLang="en-US" sz="1000" dirty="0">
                <a:solidFill>
                  <a:srgbClr val="7B899B"/>
                </a:solidFill>
                <a:latin typeface="Noto Sans KR" pitchFamily="34" charset="0"/>
                <a:ea typeface="Noto Sans KR" pitchFamily="34" charset="-122"/>
                <a:cs typeface="Noto Sans KR" pitchFamily="34" charset="-120"/>
              </a:rPr>
              <a:t>10</a:t>
            </a:r>
            <a:endParaRPr lang="ko-KR" sz="1000" dirty="0"/>
          </a:p>
        </p:txBody>
      </p:sp>
      <p:sp>
        <p:nvSpPr>
          <p:cNvPr id="8" name="Shape 6"/>
          <p:cNvSpPr/>
          <p:nvPr/>
        </p:nvSpPr>
        <p:spPr>
          <a:xfrm>
            <a:off x="777240" y="1984248"/>
            <a:ext cx="41148" cy="594360"/>
          </a:xfrm>
          <a:prstGeom prst="rect">
            <a:avLst/>
          </a:prstGeom>
          <a:solidFill>
            <a:srgbClr val="245FF2"/>
          </a:solidFill>
          <a:ln w="12700">
            <a:solidFill>
              <a:srgbClr val="245FF2"/>
            </a:solidFill>
            <a:prstDash val="solid"/>
          </a:ln>
        </p:spPr>
      </p:sp>
      <p:sp>
        <p:nvSpPr>
          <p:cNvPr id="9" name="Text 7"/>
          <p:cNvSpPr/>
          <p:nvPr/>
        </p:nvSpPr>
        <p:spPr>
          <a:xfrm>
            <a:off x="941832" y="2039112"/>
            <a:ext cx="1828800" cy="411480"/>
          </a:xfrm>
          <a:prstGeom prst="rect">
            <a:avLst/>
          </a:prstGeom>
          <a:noFill/>
          <a:ln/>
        </p:spPr>
        <p:txBody>
          <a:bodyPr wrap="square" lIns="0" tIns="0" rIns="0" bIns="0" rtlCol="0" anchor="ctr"/>
          <a:lstStyle/>
          <a:p>
            <a:pPr marL="0" indent="0">
              <a:buNone/>
            </a:pPr>
            <a:r>
              <a:rPr lang="ko-KR" altLang="en-US" sz="1900" b="1" dirty="0">
                <a:solidFill>
                  <a:srgbClr val="172A45"/>
                </a:solidFill>
                <a:latin typeface="Noto Sans KR" pitchFamily="34" charset="0"/>
                <a:ea typeface="Noto Sans KR" pitchFamily="34" charset="-122"/>
                <a:cs typeface="Noto Sans KR" pitchFamily="34" charset="-120"/>
              </a:rPr>
              <a:t>기업</a:t>
            </a:r>
            <a:endParaRPr lang="ko-KR" sz="1900" dirty="0"/>
          </a:p>
        </p:txBody>
      </p:sp>
      <p:sp>
        <p:nvSpPr>
          <p:cNvPr id="10" name="Shape 8"/>
          <p:cNvSpPr/>
          <p:nvPr/>
        </p:nvSpPr>
        <p:spPr>
          <a:xfrm>
            <a:off x="3108960" y="2221992"/>
            <a:ext cx="7909560" cy="0"/>
          </a:xfrm>
          <a:prstGeom prst="line">
            <a:avLst/>
          </a:prstGeom>
          <a:noFill/>
          <a:ln w="25400">
            <a:solidFill>
              <a:srgbClr val="245FF2"/>
            </a:solidFill>
            <a:prstDash val="solid"/>
          </a:ln>
        </p:spPr>
      </p:sp>
      <p:sp>
        <p:nvSpPr>
          <p:cNvPr id="11" name="Shape 9"/>
          <p:cNvSpPr/>
          <p:nvPr/>
        </p:nvSpPr>
        <p:spPr>
          <a:xfrm>
            <a:off x="3044952" y="2157984"/>
            <a:ext cx="128016" cy="128016"/>
          </a:xfrm>
          <a:prstGeom prst="ellipse">
            <a:avLst/>
          </a:prstGeom>
          <a:solidFill>
            <a:srgbClr val="245FF2"/>
          </a:solidFill>
          <a:ln w="12700">
            <a:solidFill>
              <a:srgbClr val="245FF2"/>
            </a:solidFill>
            <a:prstDash val="solid"/>
          </a:ln>
        </p:spPr>
      </p:sp>
      <p:sp>
        <p:nvSpPr>
          <p:cNvPr id="12" name="Text 10"/>
          <p:cNvSpPr/>
          <p:nvPr/>
        </p:nvSpPr>
        <p:spPr>
          <a:xfrm>
            <a:off x="2377440" y="2395728"/>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경영진 브리핑</a:t>
            </a:r>
            <a:endParaRPr lang="ko-KR" sz="1450" dirty="0"/>
          </a:p>
        </p:txBody>
      </p:sp>
      <p:sp>
        <p:nvSpPr>
          <p:cNvPr id="13" name="Shape 11"/>
          <p:cNvSpPr/>
          <p:nvPr/>
        </p:nvSpPr>
        <p:spPr>
          <a:xfrm>
            <a:off x="4626864" y="2157984"/>
            <a:ext cx="128016" cy="128016"/>
          </a:xfrm>
          <a:prstGeom prst="ellipse">
            <a:avLst/>
          </a:prstGeom>
          <a:solidFill>
            <a:srgbClr val="245FF2"/>
          </a:solidFill>
          <a:ln w="12700">
            <a:solidFill>
              <a:srgbClr val="245FF2"/>
            </a:solidFill>
            <a:prstDash val="solid"/>
          </a:ln>
        </p:spPr>
      </p:sp>
      <p:sp>
        <p:nvSpPr>
          <p:cNvPr id="14" name="Text 12"/>
          <p:cNvSpPr/>
          <p:nvPr/>
        </p:nvSpPr>
        <p:spPr>
          <a:xfrm>
            <a:off x="3959352" y="2395728"/>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로봇 체험</a:t>
            </a:r>
            <a:endParaRPr lang="ko-KR" sz="1450" dirty="0"/>
          </a:p>
        </p:txBody>
      </p:sp>
      <p:sp>
        <p:nvSpPr>
          <p:cNvPr id="15" name="Shape 13"/>
          <p:cNvSpPr/>
          <p:nvPr/>
        </p:nvSpPr>
        <p:spPr>
          <a:xfrm>
            <a:off x="6208776" y="2157984"/>
            <a:ext cx="128016" cy="128016"/>
          </a:xfrm>
          <a:prstGeom prst="ellipse">
            <a:avLst/>
          </a:prstGeom>
          <a:solidFill>
            <a:srgbClr val="245FF2"/>
          </a:solidFill>
          <a:ln w="12700">
            <a:solidFill>
              <a:srgbClr val="245FF2"/>
            </a:solidFill>
            <a:prstDash val="solid"/>
          </a:ln>
        </p:spPr>
      </p:sp>
      <p:sp>
        <p:nvSpPr>
          <p:cNvPr id="16" name="Text 14"/>
          <p:cNvSpPr/>
          <p:nvPr/>
        </p:nvSpPr>
        <p:spPr>
          <a:xfrm>
            <a:off x="5541264" y="2395728"/>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직원 교육</a:t>
            </a:r>
            <a:endParaRPr lang="ko-KR" sz="1450" dirty="0"/>
          </a:p>
        </p:txBody>
      </p:sp>
      <p:sp>
        <p:nvSpPr>
          <p:cNvPr id="17" name="Shape 15"/>
          <p:cNvSpPr/>
          <p:nvPr/>
        </p:nvSpPr>
        <p:spPr>
          <a:xfrm>
            <a:off x="7790688" y="2157984"/>
            <a:ext cx="128016" cy="128016"/>
          </a:xfrm>
          <a:prstGeom prst="ellipse">
            <a:avLst/>
          </a:prstGeom>
          <a:solidFill>
            <a:srgbClr val="245FF2"/>
          </a:solidFill>
          <a:ln w="12700">
            <a:solidFill>
              <a:srgbClr val="245FF2"/>
            </a:solidFill>
            <a:prstDash val="solid"/>
          </a:ln>
        </p:spPr>
      </p:sp>
      <p:sp>
        <p:nvSpPr>
          <p:cNvPr id="18" name="Text 16"/>
          <p:cNvSpPr/>
          <p:nvPr/>
        </p:nvSpPr>
        <p:spPr>
          <a:xfrm>
            <a:off x="7123176" y="2395728"/>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컨설팅</a:t>
            </a:r>
            <a:endParaRPr lang="ko-KR" sz="1450" dirty="0"/>
          </a:p>
        </p:txBody>
      </p:sp>
      <p:sp>
        <p:nvSpPr>
          <p:cNvPr id="19" name="Shape 17"/>
          <p:cNvSpPr/>
          <p:nvPr/>
        </p:nvSpPr>
        <p:spPr>
          <a:xfrm>
            <a:off x="9372600" y="2157984"/>
            <a:ext cx="128016" cy="128016"/>
          </a:xfrm>
          <a:prstGeom prst="ellipse">
            <a:avLst/>
          </a:prstGeom>
          <a:solidFill>
            <a:srgbClr val="245FF2"/>
          </a:solidFill>
          <a:ln w="12700">
            <a:solidFill>
              <a:srgbClr val="245FF2"/>
            </a:solidFill>
            <a:prstDash val="solid"/>
          </a:ln>
        </p:spPr>
      </p:sp>
      <p:sp>
        <p:nvSpPr>
          <p:cNvPr id="20" name="Text 18"/>
          <p:cNvSpPr/>
          <p:nvPr/>
        </p:nvSpPr>
        <p:spPr>
          <a:xfrm>
            <a:off x="8705088" y="2395728"/>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Demo·PoC</a:t>
            </a:r>
            <a:endParaRPr lang="ko-KR" sz="1450" dirty="0"/>
          </a:p>
        </p:txBody>
      </p:sp>
      <p:sp>
        <p:nvSpPr>
          <p:cNvPr id="21" name="Shape 19"/>
          <p:cNvSpPr/>
          <p:nvPr/>
        </p:nvSpPr>
        <p:spPr>
          <a:xfrm>
            <a:off x="10954512" y="2157984"/>
            <a:ext cx="128016" cy="128016"/>
          </a:xfrm>
          <a:prstGeom prst="ellipse">
            <a:avLst/>
          </a:prstGeom>
          <a:solidFill>
            <a:srgbClr val="245FF2"/>
          </a:solidFill>
          <a:ln w="12700">
            <a:solidFill>
              <a:srgbClr val="245FF2"/>
            </a:solidFill>
            <a:prstDash val="solid"/>
          </a:ln>
        </p:spPr>
      </p:sp>
      <p:sp>
        <p:nvSpPr>
          <p:cNvPr id="22" name="Text 20"/>
          <p:cNvSpPr/>
          <p:nvPr/>
        </p:nvSpPr>
        <p:spPr>
          <a:xfrm>
            <a:off x="10287000" y="2395728"/>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운영 지원</a:t>
            </a:r>
            <a:endParaRPr lang="ko-KR" sz="1450" dirty="0"/>
          </a:p>
        </p:txBody>
      </p:sp>
      <p:sp>
        <p:nvSpPr>
          <p:cNvPr id="23" name="Shape 21"/>
          <p:cNvSpPr/>
          <p:nvPr/>
        </p:nvSpPr>
        <p:spPr>
          <a:xfrm>
            <a:off x="777240" y="2916936"/>
            <a:ext cx="41148" cy="594360"/>
          </a:xfrm>
          <a:prstGeom prst="rect">
            <a:avLst/>
          </a:prstGeom>
          <a:solidFill>
            <a:srgbClr val="23B8DA"/>
          </a:solidFill>
          <a:ln w="12700">
            <a:solidFill>
              <a:srgbClr val="23B8DA"/>
            </a:solidFill>
            <a:prstDash val="solid"/>
          </a:ln>
        </p:spPr>
      </p:sp>
      <p:sp>
        <p:nvSpPr>
          <p:cNvPr id="24" name="Text 22"/>
          <p:cNvSpPr/>
          <p:nvPr/>
        </p:nvSpPr>
        <p:spPr>
          <a:xfrm>
            <a:off x="941832" y="2971800"/>
            <a:ext cx="1828800" cy="411480"/>
          </a:xfrm>
          <a:prstGeom prst="rect">
            <a:avLst/>
          </a:prstGeom>
          <a:noFill/>
          <a:ln/>
        </p:spPr>
        <p:txBody>
          <a:bodyPr wrap="square" lIns="0" tIns="0" rIns="0" bIns="0" rtlCol="0" anchor="ctr"/>
          <a:lstStyle/>
          <a:p>
            <a:pPr marL="0" indent="0">
              <a:buNone/>
            </a:pPr>
            <a:r>
              <a:rPr lang="ko-KR" altLang="en-US" sz="1900" b="1" dirty="0">
                <a:solidFill>
                  <a:srgbClr val="172A45"/>
                </a:solidFill>
                <a:latin typeface="Noto Sans KR" pitchFamily="34" charset="0"/>
                <a:ea typeface="Noto Sans KR" pitchFamily="34" charset="-122"/>
                <a:cs typeface="Noto Sans KR" pitchFamily="34" charset="-120"/>
              </a:rPr>
              <a:t>대학</a:t>
            </a:r>
            <a:endParaRPr lang="ko-KR" sz="1900" dirty="0"/>
          </a:p>
        </p:txBody>
      </p:sp>
      <p:sp>
        <p:nvSpPr>
          <p:cNvPr id="25" name="Shape 23"/>
          <p:cNvSpPr/>
          <p:nvPr/>
        </p:nvSpPr>
        <p:spPr>
          <a:xfrm>
            <a:off x="3108960" y="3154680"/>
            <a:ext cx="7909560" cy="0"/>
          </a:xfrm>
          <a:prstGeom prst="line">
            <a:avLst/>
          </a:prstGeom>
          <a:noFill/>
          <a:ln w="25400">
            <a:solidFill>
              <a:srgbClr val="23B8DA"/>
            </a:solidFill>
            <a:prstDash val="solid"/>
          </a:ln>
        </p:spPr>
      </p:sp>
      <p:sp>
        <p:nvSpPr>
          <p:cNvPr id="26" name="Shape 24"/>
          <p:cNvSpPr/>
          <p:nvPr/>
        </p:nvSpPr>
        <p:spPr>
          <a:xfrm>
            <a:off x="3044952" y="3090672"/>
            <a:ext cx="128016" cy="128016"/>
          </a:xfrm>
          <a:prstGeom prst="ellipse">
            <a:avLst/>
          </a:prstGeom>
          <a:solidFill>
            <a:srgbClr val="23B8DA"/>
          </a:solidFill>
          <a:ln w="12700">
            <a:solidFill>
              <a:srgbClr val="23B8DA"/>
            </a:solidFill>
            <a:prstDash val="solid"/>
          </a:ln>
        </p:spPr>
      </p:sp>
      <p:sp>
        <p:nvSpPr>
          <p:cNvPr id="27" name="Text 25"/>
          <p:cNvSpPr/>
          <p:nvPr/>
        </p:nvSpPr>
        <p:spPr>
          <a:xfrm>
            <a:off x="2377440" y="3328416"/>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기술 입문</a:t>
            </a:r>
            <a:endParaRPr lang="ko-KR" sz="1450" dirty="0"/>
          </a:p>
        </p:txBody>
      </p:sp>
      <p:sp>
        <p:nvSpPr>
          <p:cNvPr id="28" name="Shape 26"/>
          <p:cNvSpPr/>
          <p:nvPr/>
        </p:nvSpPr>
        <p:spPr>
          <a:xfrm>
            <a:off x="5681472" y="3090672"/>
            <a:ext cx="128016" cy="128016"/>
          </a:xfrm>
          <a:prstGeom prst="ellipse">
            <a:avLst/>
          </a:prstGeom>
          <a:solidFill>
            <a:srgbClr val="23B8DA"/>
          </a:solidFill>
          <a:ln w="12700">
            <a:solidFill>
              <a:srgbClr val="23B8DA"/>
            </a:solidFill>
            <a:prstDash val="solid"/>
          </a:ln>
        </p:spPr>
      </p:sp>
      <p:sp>
        <p:nvSpPr>
          <p:cNvPr id="29" name="Text 27"/>
          <p:cNvSpPr/>
          <p:nvPr/>
        </p:nvSpPr>
        <p:spPr>
          <a:xfrm>
            <a:off x="5013960" y="3328416"/>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로봇 체험</a:t>
            </a:r>
            <a:endParaRPr lang="ko-KR" sz="1450" dirty="0"/>
          </a:p>
        </p:txBody>
      </p:sp>
      <p:sp>
        <p:nvSpPr>
          <p:cNvPr id="30" name="Shape 28"/>
          <p:cNvSpPr/>
          <p:nvPr/>
        </p:nvSpPr>
        <p:spPr>
          <a:xfrm>
            <a:off x="8317992" y="3090672"/>
            <a:ext cx="128016" cy="128016"/>
          </a:xfrm>
          <a:prstGeom prst="ellipse">
            <a:avLst/>
          </a:prstGeom>
          <a:solidFill>
            <a:srgbClr val="23B8DA"/>
          </a:solidFill>
          <a:ln w="12700">
            <a:solidFill>
              <a:srgbClr val="23B8DA"/>
            </a:solidFill>
            <a:prstDash val="solid"/>
          </a:ln>
        </p:spPr>
      </p:sp>
      <p:sp>
        <p:nvSpPr>
          <p:cNvPr id="31" name="Text 29"/>
          <p:cNvSpPr/>
          <p:nvPr/>
        </p:nvSpPr>
        <p:spPr>
          <a:xfrm>
            <a:off x="7650480" y="3328416"/>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학생 실습</a:t>
            </a:r>
            <a:endParaRPr lang="ko-KR" sz="1450" dirty="0"/>
          </a:p>
        </p:txBody>
      </p:sp>
      <p:sp>
        <p:nvSpPr>
          <p:cNvPr id="32" name="Shape 30"/>
          <p:cNvSpPr/>
          <p:nvPr/>
        </p:nvSpPr>
        <p:spPr>
          <a:xfrm>
            <a:off x="10954512" y="3090672"/>
            <a:ext cx="128016" cy="128016"/>
          </a:xfrm>
          <a:prstGeom prst="ellipse">
            <a:avLst/>
          </a:prstGeom>
          <a:solidFill>
            <a:srgbClr val="23B8DA"/>
          </a:solidFill>
          <a:ln w="12700">
            <a:solidFill>
              <a:srgbClr val="23B8DA"/>
            </a:solidFill>
            <a:prstDash val="solid"/>
          </a:ln>
        </p:spPr>
      </p:sp>
      <p:sp>
        <p:nvSpPr>
          <p:cNvPr id="33" name="Text 31"/>
          <p:cNvSpPr/>
          <p:nvPr/>
        </p:nvSpPr>
        <p:spPr>
          <a:xfrm>
            <a:off x="10287000" y="3328416"/>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프로젝트·연구</a:t>
            </a:r>
            <a:endParaRPr lang="ko-KR" sz="1450" dirty="0"/>
          </a:p>
        </p:txBody>
      </p:sp>
      <p:sp>
        <p:nvSpPr>
          <p:cNvPr id="34" name="Shape 32"/>
          <p:cNvSpPr/>
          <p:nvPr/>
        </p:nvSpPr>
        <p:spPr>
          <a:xfrm>
            <a:off x="777240" y="3849624"/>
            <a:ext cx="41148" cy="594360"/>
          </a:xfrm>
          <a:prstGeom prst="rect">
            <a:avLst/>
          </a:prstGeom>
          <a:solidFill>
            <a:srgbClr val="245FF2"/>
          </a:solidFill>
          <a:ln w="12700">
            <a:solidFill>
              <a:srgbClr val="245FF2"/>
            </a:solidFill>
            <a:prstDash val="solid"/>
          </a:ln>
        </p:spPr>
      </p:sp>
      <p:sp>
        <p:nvSpPr>
          <p:cNvPr id="35" name="Text 33"/>
          <p:cNvSpPr/>
          <p:nvPr/>
        </p:nvSpPr>
        <p:spPr>
          <a:xfrm>
            <a:off x="941832" y="3904488"/>
            <a:ext cx="1828800" cy="411480"/>
          </a:xfrm>
          <a:prstGeom prst="rect">
            <a:avLst/>
          </a:prstGeom>
          <a:noFill/>
          <a:ln/>
        </p:spPr>
        <p:txBody>
          <a:bodyPr wrap="square" lIns="0" tIns="0" rIns="0" bIns="0" rtlCol="0" anchor="ctr"/>
          <a:lstStyle/>
          <a:p>
            <a:pPr marL="0" indent="0">
              <a:buNone/>
            </a:pPr>
            <a:r>
              <a:rPr lang="ko-KR" altLang="en-US" sz="1900" b="1" dirty="0">
                <a:solidFill>
                  <a:srgbClr val="172A45"/>
                </a:solidFill>
                <a:latin typeface="Noto Sans KR" pitchFamily="34" charset="0"/>
                <a:ea typeface="Noto Sans KR" pitchFamily="34" charset="-122"/>
                <a:cs typeface="Noto Sans KR" pitchFamily="34" charset="-120"/>
              </a:rPr>
              <a:t>사업가·투자자</a:t>
            </a:r>
            <a:endParaRPr lang="ko-KR" sz="1900" dirty="0"/>
          </a:p>
        </p:txBody>
      </p:sp>
      <p:sp>
        <p:nvSpPr>
          <p:cNvPr id="36" name="Shape 34"/>
          <p:cNvSpPr/>
          <p:nvPr/>
        </p:nvSpPr>
        <p:spPr>
          <a:xfrm>
            <a:off x="3108960" y="4087368"/>
            <a:ext cx="7909560" cy="0"/>
          </a:xfrm>
          <a:prstGeom prst="line">
            <a:avLst/>
          </a:prstGeom>
          <a:noFill/>
          <a:ln w="25400">
            <a:solidFill>
              <a:srgbClr val="245FF2"/>
            </a:solidFill>
            <a:prstDash val="solid"/>
          </a:ln>
        </p:spPr>
      </p:sp>
      <p:sp>
        <p:nvSpPr>
          <p:cNvPr id="37" name="Shape 35"/>
          <p:cNvSpPr/>
          <p:nvPr/>
        </p:nvSpPr>
        <p:spPr>
          <a:xfrm>
            <a:off x="3044952" y="4023360"/>
            <a:ext cx="128016" cy="128016"/>
          </a:xfrm>
          <a:prstGeom prst="ellipse">
            <a:avLst/>
          </a:prstGeom>
          <a:solidFill>
            <a:srgbClr val="245FF2"/>
          </a:solidFill>
          <a:ln w="12700">
            <a:solidFill>
              <a:srgbClr val="245FF2"/>
            </a:solidFill>
            <a:prstDash val="solid"/>
          </a:ln>
        </p:spPr>
      </p:sp>
      <p:sp>
        <p:nvSpPr>
          <p:cNvPr id="38" name="Text 36"/>
          <p:cNvSpPr/>
          <p:nvPr/>
        </p:nvSpPr>
        <p:spPr>
          <a:xfrm>
            <a:off x="2377440" y="4261104"/>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기술 브리핑</a:t>
            </a:r>
            <a:endParaRPr lang="ko-KR" sz="1450" dirty="0"/>
          </a:p>
        </p:txBody>
      </p:sp>
      <p:sp>
        <p:nvSpPr>
          <p:cNvPr id="39" name="Shape 37"/>
          <p:cNvSpPr/>
          <p:nvPr/>
        </p:nvSpPr>
        <p:spPr>
          <a:xfrm>
            <a:off x="5022342" y="4023360"/>
            <a:ext cx="128016" cy="128016"/>
          </a:xfrm>
          <a:prstGeom prst="ellipse">
            <a:avLst/>
          </a:prstGeom>
          <a:solidFill>
            <a:srgbClr val="245FF2"/>
          </a:solidFill>
          <a:ln w="12700">
            <a:solidFill>
              <a:srgbClr val="245FF2"/>
            </a:solidFill>
            <a:prstDash val="solid"/>
          </a:ln>
        </p:spPr>
      </p:sp>
      <p:sp>
        <p:nvSpPr>
          <p:cNvPr id="40" name="Text 38"/>
          <p:cNvSpPr/>
          <p:nvPr/>
        </p:nvSpPr>
        <p:spPr>
          <a:xfrm>
            <a:off x="4354830" y="4261104"/>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로봇 체험</a:t>
            </a:r>
            <a:endParaRPr lang="ko-KR" sz="1450" dirty="0"/>
          </a:p>
        </p:txBody>
      </p:sp>
      <p:sp>
        <p:nvSpPr>
          <p:cNvPr id="41" name="Shape 39"/>
          <p:cNvSpPr/>
          <p:nvPr/>
        </p:nvSpPr>
        <p:spPr>
          <a:xfrm>
            <a:off x="6999732" y="4023360"/>
            <a:ext cx="128016" cy="128016"/>
          </a:xfrm>
          <a:prstGeom prst="ellipse">
            <a:avLst/>
          </a:prstGeom>
          <a:solidFill>
            <a:srgbClr val="245FF2"/>
          </a:solidFill>
          <a:ln w="12700">
            <a:solidFill>
              <a:srgbClr val="245FF2"/>
            </a:solidFill>
            <a:prstDash val="solid"/>
          </a:ln>
        </p:spPr>
      </p:sp>
      <p:sp>
        <p:nvSpPr>
          <p:cNvPr id="42" name="Text 40"/>
          <p:cNvSpPr/>
          <p:nvPr/>
        </p:nvSpPr>
        <p:spPr>
          <a:xfrm>
            <a:off x="6332220" y="4261104"/>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기회 분석</a:t>
            </a:r>
            <a:endParaRPr lang="ko-KR" sz="1450" dirty="0"/>
          </a:p>
        </p:txBody>
      </p:sp>
      <p:sp>
        <p:nvSpPr>
          <p:cNvPr id="43" name="Shape 41"/>
          <p:cNvSpPr/>
          <p:nvPr/>
        </p:nvSpPr>
        <p:spPr>
          <a:xfrm>
            <a:off x="8977122" y="4023360"/>
            <a:ext cx="128016" cy="128016"/>
          </a:xfrm>
          <a:prstGeom prst="ellipse">
            <a:avLst/>
          </a:prstGeom>
          <a:solidFill>
            <a:srgbClr val="245FF2"/>
          </a:solidFill>
          <a:ln w="12700">
            <a:solidFill>
              <a:srgbClr val="245FF2"/>
            </a:solidFill>
            <a:prstDash val="solid"/>
          </a:ln>
        </p:spPr>
      </p:sp>
      <p:sp>
        <p:nvSpPr>
          <p:cNvPr id="44" name="Text 42"/>
          <p:cNvSpPr/>
          <p:nvPr/>
        </p:nvSpPr>
        <p:spPr>
          <a:xfrm>
            <a:off x="8309610" y="4261104"/>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컨설팅</a:t>
            </a:r>
            <a:endParaRPr lang="ko-KR" sz="1450" dirty="0"/>
          </a:p>
        </p:txBody>
      </p:sp>
      <p:sp>
        <p:nvSpPr>
          <p:cNvPr id="45" name="Shape 43"/>
          <p:cNvSpPr/>
          <p:nvPr/>
        </p:nvSpPr>
        <p:spPr>
          <a:xfrm>
            <a:off x="10954512" y="4023360"/>
            <a:ext cx="128016" cy="128016"/>
          </a:xfrm>
          <a:prstGeom prst="ellipse">
            <a:avLst/>
          </a:prstGeom>
          <a:solidFill>
            <a:srgbClr val="245FF2"/>
          </a:solidFill>
          <a:ln w="12700">
            <a:solidFill>
              <a:srgbClr val="245FF2"/>
            </a:solidFill>
            <a:prstDash val="solid"/>
          </a:ln>
        </p:spPr>
      </p:sp>
      <p:sp>
        <p:nvSpPr>
          <p:cNvPr id="46" name="Text 44"/>
          <p:cNvSpPr/>
          <p:nvPr/>
        </p:nvSpPr>
        <p:spPr>
          <a:xfrm>
            <a:off x="10287000" y="4261104"/>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사업·투자 검토</a:t>
            </a:r>
            <a:endParaRPr lang="ko-KR" sz="1450" dirty="0"/>
          </a:p>
        </p:txBody>
      </p:sp>
      <p:sp>
        <p:nvSpPr>
          <p:cNvPr id="47" name="Shape 45"/>
          <p:cNvSpPr/>
          <p:nvPr/>
        </p:nvSpPr>
        <p:spPr>
          <a:xfrm>
            <a:off x="777240" y="4782312"/>
            <a:ext cx="41148" cy="594360"/>
          </a:xfrm>
          <a:prstGeom prst="rect">
            <a:avLst/>
          </a:prstGeom>
          <a:solidFill>
            <a:srgbClr val="168876"/>
          </a:solidFill>
          <a:ln w="12700">
            <a:solidFill>
              <a:srgbClr val="168876"/>
            </a:solidFill>
            <a:prstDash val="solid"/>
          </a:ln>
        </p:spPr>
      </p:sp>
      <p:sp>
        <p:nvSpPr>
          <p:cNvPr id="48" name="Text 46"/>
          <p:cNvSpPr/>
          <p:nvPr/>
        </p:nvSpPr>
        <p:spPr>
          <a:xfrm>
            <a:off x="941832" y="4837176"/>
            <a:ext cx="1828800" cy="411480"/>
          </a:xfrm>
          <a:prstGeom prst="rect">
            <a:avLst/>
          </a:prstGeom>
          <a:noFill/>
          <a:ln/>
        </p:spPr>
        <p:txBody>
          <a:bodyPr wrap="square" lIns="0" tIns="0" rIns="0" bIns="0" rtlCol="0" anchor="ctr"/>
          <a:lstStyle/>
          <a:p>
            <a:pPr marL="0" indent="0">
              <a:buNone/>
            </a:pPr>
            <a:r>
              <a:rPr lang="ko-KR" altLang="en-US" sz="1900" b="1" dirty="0">
                <a:solidFill>
                  <a:srgbClr val="172A45"/>
                </a:solidFill>
                <a:latin typeface="Noto Sans KR" pitchFamily="34" charset="0"/>
                <a:ea typeface="Noto Sans KR" pitchFamily="34" charset="-122"/>
                <a:cs typeface="Noto Sans KR" pitchFamily="34" charset="-120"/>
              </a:rPr>
              <a:t>행사·전시</a:t>
            </a:r>
            <a:endParaRPr lang="ko-KR" sz="1900" dirty="0"/>
          </a:p>
        </p:txBody>
      </p:sp>
      <p:sp>
        <p:nvSpPr>
          <p:cNvPr id="49" name="Shape 47"/>
          <p:cNvSpPr/>
          <p:nvPr/>
        </p:nvSpPr>
        <p:spPr>
          <a:xfrm>
            <a:off x="3108960" y="5020056"/>
            <a:ext cx="7909560" cy="0"/>
          </a:xfrm>
          <a:prstGeom prst="line">
            <a:avLst/>
          </a:prstGeom>
          <a:noFill/>
          <a:ln w="25400">
            <a:solidFill>
              <a:srgbClr val="168876"/>
            </a:solidFill>
            <a:prstDash val="solid"/>
          </a:ln>
        </p:spPr>
      </p:sp>
      <p:sp>
        <p:nvSpPr>
          <p:cNvPr id="50" name="Shape 48"/>
          <p:cNvSpPr/>
          <p:nvPr/>
        </p:nvSpPr>
        <p:spPr>
          <a:xfrm>
            <a:off x="3044952" y="4956048"/>
            <a:ext cx="128016" cy="128016"/>
          </a:xfrm>
          <a:prstGeom prst="ellipse">
            <a:avLst/>
          </a:prstGeom>
          <a:solidFill>
            <a:srgbClr val="168876"/>
          </a:solidFill>
          <a:ln w="12700">
            <a:solidFill>
              <a:srgbClr val="168876"/>
            </a:solidFill>
            <a:prstDash val="solid"/>
          </a:ln>
        </p:spPr>
      </p:sp>
      <p:sp>
        <p:nvSpPr>
          <p:cNvPr id="51" name="Text 49"/>
          <p:cNvSpPr/>
          <p:nvPr/>
        </p:nvSpPr>
        <p:spPr>
          <a:xfrm>
            <a:off x="2377440" y="5193792"/>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로봇 대여</a:t>
            </a:r>
            <a:endParaRPr lang="ko-KR" sz="1450" dirty="0"/>
          </a:p>
        </p:txBody>
      </p:sp>
      <p:sp>
        <p:nvSpPr>
          <p:cNvPr id="52" name="Shape 50"/>
          <p:cNvSpPr/>
          <p:nvPr/>
        </p:nvSpPr>
        <p:spPr>
          <a:xfrm>
            <a:off x="5681472" y="4956048"/>
            <a:ext cx="128016" cy="128016"/>
          </a:xfrm>
          <a:prstGeom prst="ellipse">
            <a:avLst/>
          </a:prstGeom>
          <a:solidFill>
            <a:srgbClr val="168876"/>
          </a:solidFill>
          <a:ln w="12700">
            <a:solidFill>
              <a:srgbClr val="168876"/>
            </a:solidFill>
            <a:prstDash val="solid"/>
          </a:ln>
        </p:spPr>
      </p:sp>
      <p:sp>
        <p:nvSpPr>
          <p:cNvPr id="53" name="Text 51"/>
          <p:cNvSpPr/>
          <p:nvPr/>
        </p:nvSpPr>
        <p:spPr>
          <a:xfrm>
            <a:off x="5013960" y="5193792"/>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쇼케이스</a:t>
            </a:r>
            <a:endParaRPr lang="ko-KR" sz="1450" dirty="0"/>
          </a:p>
        </p:txBody>
      </p:sp>
      <p:sp>
        <p:nvSpPr>
          <p:cNvPr id="54" name="Shape 52"/>
          <p:cNvSpPr/>
          <p:nvPr/>
        </p:nvSpPr>
        <p:spPr>
          <a:xfrm>
            <a:off x="8317992" y="4956048"/>
            <a:ext cx="128016" cy="128016"/>
          </a:xfrm>
          <a:prstGeom prst="ellipse">
            <a:avLst/>
          </a:prstGeom>
          <a:solidFill>
            <a:srgbClr val="168876"/>
          </a:solidFill>
          <a:ln w="12700">
            <a:solidFill>
              <a:srgbClr val="168876"/>
            </a:solidFill>
            <a:prstDash val="solid"/>
          </a:ln>
        </p:spPr>
      </p:sp>
      <p:sp>
        <p:nvSpPr>
          <p:cNvPr id="55" name="Text 53"/>
          <p:cNvSpPr/>
          <p:nvPr/>
        </p:nvSpPr>
        <p:spPr>
          <a:xfrm>
            <a:off x="7650480" y="5193792"/>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관람객 체험</a:t>
            </a:r>
            <a:endParaRPr lang="ko-KR" sz="1450" dirty="0"/>
          </a:p>
        </p:txBody>
      </p:sp>
      <p:sp>
        <p:nvSpPr>
          <p:cNvPr id="56" name="Shape 54"/>
          <p:cNvSpPr/>
          <p:nvPr/>
        </p:nvSpPr>
        <p:spPr>
          <a:xfrm>
            <a:off x="10954512" y="4956048"/>
            <a:ext cx="128016" cy="128016"/>
          </a:xfrm>
          <a:prstGeom prst="ellipse">
            <a:avLst/>
          </a:prstGeom>
          <a:solidFill>
            <a:srgbClr val="168876"/>
          </a:solidFill>
          <a:ln w="12700">
            <a:solidFill>
              <a:srgbClr val="168876"/>
            </a:solidFill>
            <a:prstDash val="solid"/>
          </a:ln>
        </p:spPr>
      </p:sp>
      <p:sp>
        <p:nvSpPr>
          <p:cNvPr id="57" name="Text 55"/>
          <p:cNvSpPr/>
          <p:nvPr/>
        </p:nvSpPr>
        <p:spPr>
          <a:xfrm>
            <a:off x="10287000" y="5193792"/>
            <a:ext cx="1463040" cy="484632"/>
          </a:xfrm>
          <a:prstGeom prst="rect">
            <a:avLst/>
          </a:prstGeom>
          <a:noFill/>
          <a:ln/>
        </p:spPr>
        <p:txBody>
          <a:bodyPr wrap="square" lIns="0" tIns="0" rIns="0" bIns="0" rtlCol="0" anchor="ctr"/>
          <a:lstStyle/>
          <a:p>
            <a:pPr marL="0" indent="0" algn="ctr">
              <a:buNone/>
            </a:pPr>
            <a:r>
              <a:rPr lang="ko-KR" altLang="en-US" sz="1450" dirty="0">
                <a:solidFill>
                  <a:srgbClr val="5D6C82"/>
                </a:solidFill>
                <a:latin typeface="Noto Sans KR" pitchFamily="34" charset="0"/>
                <a:ea typeface="Noto Sans KR" pitchFamily="34" charset="-122"/>
                <a:cs typeface="Noto Sans KR" pitchFamily="34" charset="-120"/>
              </a:rPr>
              <a:t>브랜드·콘텐츠 활용</a:t>
            </a:r>
            <a:endParaRPr lang="ko-KR" sz="1450" dirty="0"/>
          </a:p>
        </p:txBody>
      </p:sp>
      <p:sp>
        <p:nvSpPr>
          <p:cNvPr id="58" name="Shape 56"/>
          <p:cNvSpPr/>
          <p:nvPr/>
        </p:nvSpPr>
        <p:spPr>
          <a:xfrm>
            <a:off x="768096" y="5971032"/>
            <a:ext cx="10661904" cy="338328"/>
          </a:xfrm>
          <a:prstGeom prst="rect">
            <a:avLst/>
          </a:prstGeom>
          <a:solidFill>
            <a:srgbClr val="F3F6FB"/>
          </a:solidFill>
          <a:ln w="12700">
            <a:solidFill>
              <a:srgbClr val="F3F6FB"/>
            </a:solidFill>
            <a:prstDash val="solid"/>
          </a:ln>
        </p:spPr>
      </p:sp>
      <p:sp>
        <p:nvSpPr>
          <p:cNvPr id="59" name="Text 57"/>
          <p:cNvSpPr/>
          <p:nvPr/>
        </p:nvSpPr>
        <p:spPr>
          <a:xfrm>
            <a:off x="932688" y="6025896"/>
            <a:ext cx="10332720" cy="210312"/>
          </a:xfrm>
          <a:prstGeom prst="rect">
            <a:avLst/>
          </a:prstGeom>
          <a:noFill/>
          <a:ln/>
        </p:spPr>
        <p:txBody>
          <a:bodyPr wrap="square" lIns="0" tIns="0" rIns="0" bIns="0" rtlCol="0" anchor="ctr"/>
          <a:lstStyle/>
          <a:p>
            <a:pPr marL="0" indent="0" algn="ctr">
              <a:buNone/>
            </a:pPr>
            <a:r>
              <a:rPr lang="ko-KR" altLang="en-US" sz="1200" dirty="0">
                <a:solidFill>
                  <a:srgbClr val="5D6C82"/>
                </a:solidFill>
                <a:latin typeface="Noto Sans KR" pitchFamily="34" charset="0"/>
                <a:ea typeface="Noto Sans KR" pitchFamily="34" charset="-122"/>
                <a:cs typeface="Noto Sans KR" pitchFamily="34" charset="-120"/>
              </a:rPr>
              <a:t>고객별 제안 경로  /  실제 프로그램과 제공 범위는 목적·장비·현장 조건에 맞춰 설계합니다</a:t>
            </a:r>
            <a:endParaRPr lang="ko-KR"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F39"/>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64635956-E3F5-9D69-5172-8AD56B7BA250}"/>
              </a:ext>
            </a:extLst>
          </p:cNvPr>
          <p:cNvPicPr>
            <a:picLocks noChangeAspect="1"/>
          </p:cNvPicPr>
          <p:nvPr/>
        </p:nvPicPr>
        <p:blipFill>
          <a:blip r:embed="rId3"/>
          <a:stretch>
            <a:fillRect/>
          </a:stretch>
        </p:blipFill>
        <p:spPr>
          <a:xfrm>
            <a:off x="48133" y="-4954"/>
            <a:ext cx="12185522" cy="6858000"/>
          </a:xfrm>
          <a:prstGeom prst="rect">
            <a:avLst/>
          </a:prstGeom>
        </p:spPr>
      </p:pic>
      <p:sp>
        <p:nvSpPr>
          <p:cNvPr id="3" name="Text 1"/>
          <p:cNvSpPr/>
          <p:nvPr/>
        </p:nvSpPr>
        <p:spPr>
          <a:xfrm>
            <a:off x="48133" y="4954"/>
            <a:ext cx="10826496" cy="1353312"/>
          </a:xfrm>
          <a:prstGeom prst="rect">
            <a:avLst/>
          </a:prstGeom>
          <a:noFill/>
          <a:ln/>
        </p:spPr>
        <p:txBody>
          <a:bodyPr wrap="square" lIns="0" tIns="0" rIns="0" bIns="0" rtlCol="0" anchor="ctr"/>
          <a:lstStyle/>
          <a:p>
            <a:pPr marL="0" indent="0">
              <a:buNone/>
            </a:pPr>
            <a:r>
              <a:rPr lang="ko-KR" altLang="en-US" sz="4300" b="1" dirty="0">
                <a:solidFill>
                  <a:srgbClr val="FFFFFF"/>
                </a:solidFill>
                <a:latin typeface="Noto Sans KR" pitchFamily="34" charset="0"/>
                <a:ea typeface="Noto Sans KR" pitchFamily="34" charset="-122"/>
                <a:cs typeface="Noto Sans KR" pitchFamily="34" charset="-120"/>
              </a:rPr>
              <a:t>피지컬 AI 시대의</a:t>
            </a:r>
            <a:endParaRPr lang="ko-KR" sz="4300" dirty="0"/>
          </a:p>
          <a:p>
            <a:pPr marL="0" indent="0">
              <a:buNone/>
            </a:pPr>
            <a:r>
              <a:rPr lang="ko-KR" altLang="en-US" sz="4300" b="1" dirty="0">
                <a:solidFill>
                  <a:srgbClr val="FFFFFF"/>
                </a:solidFill>
                <a:latin typeface="Noto Sans KR" pitchFamily="34" charset="0"/>
                <a:ea typeface="Noto Sans KR" pitchFamily="34" charset="-122"/>
                <a:cs typeface="Noto Sans KR" pitchFamily="34" charset="-120"/>
              </a:rPr>
              <a:t>준비 파트너</a:t>
            </a:r>
            <a:endParaRPr lang="ko-KR" sz="4300" dirty="0"/>
          </a:p>
        </p:txBody>
      </p:sp>
      <p:sp>
        <p:nvSpPr>
          <p:cNvPr id="4" name="Text 2"/>
          <p:cNvSpPr/>
          <p:nvPr/>
        </p:nvSpPr>
        <p:spPr>
          <a:xfrm>
            <a:off x="3331527" y="813056"/>
            <a:ext cx="2809367" cy="572289"/>
          </a:xfrm>
          <a:prstGeom prst="rect">
            <a:avLst/>
          </a:prstGeom>
          <a:noFill/>
          <a:ln/>
        </p:spPr>
        <p:txBody>
          <a:bodyPr wrap="square" lIns="0" tIns="0" rIns="0" bIns="0" rtlCol="0" anchor="ctr"/>
          <a:lstStyle/>
          <a:p>
            <a:pPr marL="0" indent="0">
              <a:buNone/>
            </a:pPr>
            <a:r>
              <a:rPr lang="ko-KR" altLang="en-US" sz="1000" dirty="0">
                <a:solidFill>
                  <a:schemeClr val="bg1"/>
                </a:solidFill>
                <a:latin typeface="Noto Sans KR" pitchFamily="34" charset="0"/>
                <a:ea typeface="Noto Sans KR" pitchFamily="34" charset="-122"/>
                <a:cs typeface="Noto Sans KR" pitchFamily="34" charset="-120"/>
              </a:rPr>
              <a:t>새로운 일의 방식을 위해</a:t>
            </a:r>
            <a:endParaRPr lang="ko-KR" sz="1000" dirty="0">
              <a:solidFill>
                <a:schemeClr val="bg1"/>
              </a:solidFill>
            </a:endParaRPr>
          </a:p>
          <a:p>
            <a:pPr marL="0" indent="0">
              <a:buNone/>
            </a:pPr>
            <a:r>
              <a:rPr lang="ko-KR" altLang="en-US" sz="1000" dirty="0">
                <a:solidFill>
                  <a:schemeClr val="bg1"/>
                </a:solidFill>
                <a:latin typeface="Noto Sans KR" pitchFamily="34" charset="0"/>
                <a:ea typeface="Noto Sans KR" pitchFamily="34" charset="-122"/>
                <a:cs typeface="Noto Sans KR" pitchFamily="34" charset="-120"/>
              </a:rPr>
              <a:t>사람과 비즈니스가 함께 준비해야 합니다</a:t>
            </a:r>
            <a:endParaRPr lang="ko-KR" sz="1000" dirty="0">
              <a:solidFill>
                <a:schemeClr val="bg1"/>
              </a:solidFill>
            </a:endParaRPr>
          </a:p>
        </p:txBody>
      </p:sp>
      <p:sp>
        <p:nvSpPr>
          <p:cNvPr id="5" name="Text 3"/>
          <p:cNvSpPr/>
          <p:nvPr/>
        </p:nvSpPr>
        <p:spPr>
          <a:xfrm>
            <a:off x="7867396" y="177928"/>
            <a:ext cx="4133342" cy="365753"/>
          </a:xfrm>
          <a:prstGeom prst="rect">
            <a:avLst/>
          </a:prstGeom>
          <a:noFill/>
          <a:ln/>
        </p:spPr>
        <p:txBody>
          <a:bodyPr wrap="square" lIns="0" tIns="0" rIns="0" bIns="0" rtlCol="0" anchor="ctr"/>
          <a:lstStyle/>
          <a:p>
            <a:pPr marL="0" indent="0">
              <a:buNone/>
            </a:pPr>
            <a:r>
              <a:rPr lang="ko-KR" altLang="en-US" sz="1000" dirty="0">
                <a:solidFill>
                  <a:schemeClr val="bg1"/>
                </a:solidFill>
                <a:latin typeface="Noto Sans KR" pitchFamily="34" charset="0"/>
                <a:ea typeface="Noto Sans KR" pitchFamily="34" charset="-122"/>
                <a:cs typeface="Noto Sans KR" pitchFamily="34" charset="-120"/>
              </a:rPr>
              <a:t>지니에듀테크는 조직이 피지컬 AI를 경험하고, 이해하고, 배우며</a:t>
            </a:r>
            <a:endParaRPr lang="ko-KR" sz="1000" dirty="0">
              <a:solidFill>
                <a:schemeClr val="bg1"/>
              </a:solidFill>
            </a:endParaRPr>
          </a:p>
          <a:p>
            <a:pPr marL="0" indent="0">
              <a:buNone/>
            </a:pPr>
            <a:r>
              <a:rPr lang="ko-KR" altLang="en-US" sz="1000" dirty="0">
                <a:solidFill>
                  <a:schemeClr val="bg1"/>
                </a:solidFill>
                <a:latin typeface="Noto Sans KR" pitchFamily="34" charset="0"/>
                <a:ea typeface="Noto Sans KR" pitchFamily="34" charset="-122"/>
                <a:cs typeface="Noto Sans KR" pitchFamily="34" charset="-120"/>
              </a:rPr>
              <a:t>자신에게 맞는 활용 방향을 준비하도록 돕고자 합니다</a:t>
            </a:r>
            <a:endParaRPr lang="ko-KR" sz="1000" dirty="0">
              <a:solidFill>
                <a:schemeClr val="bg1"/>
              </a:solidFill>
            </a:endParaRPr>
          </a:p>
        </p:txBody>
      </p:sp>
      <p:sp>
        <p:nvSpPr>
          <p:cNvPr id="6" name="Text 4"/>
          <p:cNvSpPr/>
          <p:nvPr/>
        </p:nvSpPr>
        <p:spPr>
          <a:xfrm>
            <a:off x="784098" y="5752336"/>
            <a:ext cx="1572768" cy="365760"/>
          </a:xfrm>
          <a:prstGeom prst="rect">
            <a:avLst/>
          </a:prstGeom>
          <a:noFill/>
          <a:ln/>
        </p:spPr>
        <p:txBody>
          <a:bodyPr wrap="square" lIns="0" tIns="0" rIns="0" bIns="0" rtlCol="0" anchor="ctr"/>
          <a:lstStyle/>
          <a:p>
            <a:pPr marL="0" indent="0" algn="ctr">
              <a:buNone/>
            </a:pPr>
            <a:r>
              <a:rPr lang="ko-KR" altLang="en-US" sz="1700" b="1" dirty="0">
                <a:solidFill>
                  <a:srgbClr val="FFFFFF"/>
                </a:solidFill>
                <a:latin typeface="Noto Sans KR" pitchFamily="34" charset="0"/>
                <a:ea typeface="Noto Sans KR" pitchFamily="34" charset="-122"/>
                <a:cs typeface="Noto Sans KR" pitchFamily="34" charset="-120"/>
              </a:rPr>
              <a:t>체험</a:t>
            </a:r>
            <a:endParaRPr lang="ko-KR" sz="1700" dirty="0"/>
          </a:p>
        </p:txBody>
      </p:sp>
      <p:sp>
        <p:nvSpPr>
          <p:cNvPr id="7" name="Shape 5"/>
          <p:cNvSpPr/>
          <p:nvPr/>
        </p:nvSpPr>
        <p:spPr>
          <a:xfrm>
            <a:off x="2503170" y="5852920"/>
            <a:ext cx="0" cy="192024"/>
          </a:xfrm>
          <a:prstGeom prst="line">
            <a:avLst/>
          </a:prstGeom>
          <a:noFill/>
          <a:ln w="8890">
            <a:solidFill>
              <a:srgbClr val="536984"/>
            </a:solidFill>
            <a:prstDash val="solid"/>
          </a:ln>
        </p:spPr>
      </p:sp>
      <p:sp>
        <p:nvSpPr>
          <p:cNvPr id="8" name="Text 6"/>
          <p:cNvSpPr/>
          <p:nvPr/>
        </p:nvSpPr>
        <p:spPr>
          <a:xfrm>
            <a:off x="2695194" y="5752336"/>
            <a:ext cx="1572768" cy="365760"/>
          </a:xfrm>
          <a:prstGeom prst="rect">
            <a:avLst/>
          </a:prstGeom>
          <a:noFill/>
          <a:ln/>
        </p:spPr>
        <p:txBody>
          <a:bodyPr wrap="square" lIns="0" tIns="0" rIns="0" bIns="0" rtlCol="0" anchor="ctr"/>
          <a:lstStyle/>
          <a:p>
            <a:pPr marL="0" indent="0" algn="ctr">
              <a:buNone/>
            </a:pPr>
            <a:r>
              <a:rPr lang="ko-KR" altLang="en-US" sz="1700" b="1" dirty="0">
                <a:solidFill>
                  <a:srgbClr val="FFFFFF"/>
                </a:solidFill>
                <a:latin typeface="Noto Sans KR" pitchFamily="34" charset="0"/>
                <a:ea typeface="Noto Sans KR" pitchFamily="34" charset="-122"/>
                <a:cs typeface="Noto Sans KR" pitchFamily="34" charset="-120"/>
              </a:rPr>
              <a:t>교육</a:t>
            </a:r>
            <a:endParaRPr lang="ko-KR" sz="1700" dirty="0"/>
          </a:p>
        </p:txBody>
      </p:sp>
      <p:sp>
        <p:nvSpPr>
          <p:cNvPr id="9" name="Shape 7"/>
          <p:cNvSpPr/>
          <p:nvPr/>
        </p:nvSpPr>
        <p:spPr>
          <a:xfrm>
            <a:off x="4414266" y="5852920"/>
            <a:ext cx="0" cy="192024"/>
          </a:xfrm>
          <a:prstGeom prst="line">
            <a:avLst/>
          </a:prstGeom>
          <a:noFill/>
          <a:ln w="8890">
            <a:solidFill>
              <a:srgbClr val="536984"/>
            </a:solidFill>
            <a:prstDash val="solid"/>
          </a:ln>
        </p:spPr>
      </p:sp>
      <p:sp>
        <p:nvSpPr>
          <p:cNvPr id="10" name="Text 8"/>
          <p:cNvSpPr/>
          <p:nvPr/>
        </p:nvSpPr>
        <p:spPr>
          <a:xfrm>
            <a:off x="4606290" y="5752336"/>
            <a:ext cx="1572768" cy="365760"/>
          </a:xfrm>
          <a:prstGeom prst="rect">
            <a:avLst/>
          </a:prstGeom>
          <a:noFill/>
          <a:ln/>
        </p:spPr>
        <p:txBody>
          <a:bodyPr wrap="square" lIns="0" tIns="0" rIns="0" bIns="0" rtlCol="0" anchor="ctr"/>
          <a:lstStyle/>
          <a:p>
            <a:pPr marL="0" indent="0" algn="ctr">
              <a:buNone/>
            </a:pPr>
            <a:r>
              <a:rPr lang="ko-KR" altLang="en-US" sz="1700" b="1" dirty="0">
                <a:solidFill>
                  <a:srgbClr val="FFFFFF"/>
                </a:solidFill>
                <a:latin typeface="Noto Sans KR" pitchFamily="34" charset="0"/>
                <a:ea typeface="Noto Sans KR" pitchFamily="34" charset="-122"/>
                <a:cs typeface="Noto Sans KR" pitchFamily="34" charset="-120"/>
              </a:rPr>
              <a:t>컨설팅</a:t>
            </a:r>
            <a:endParaRPr lang="ko-KR" sz="1700" dirty="0"/>
          </a:p>
        </p:txBody>
      </p:sp>
      <p:sp>
        <p:nvSpPr>
          <p:cNvPr id="11" name="Shape 9"/>
          <p:cNvSpPr/>
          <p:nvPr/>
        </p:nvSpPr>
        <p:spPr>
          <a:xfrm>
            <a:off x="6318504" y="5129784"/>
            <a:ext cx="0" cy="192024"/>
          </a:xfrm>
          <a:prstGeom prst="line">
            <a:avLst/>
          </a:prstGeom>
          <a:noFill/>
          <a:ln w="8890">
            <a:solidFill>
              <a:srgbClr val="536984"/>
            </a:solidFill>
            <a:prstDash val="solid"/>
          </a:ln>
        </p:spPr>
      </p:sp>
      <p:sp>
        <p:nvSpPr>
          <p:cNvPr id="12" name="Text 10"/>
          <p:cNvSpPr/>
          <p:nvPr/>
        </p:nvSpPr>
        <p:spPr>
          <a:xfrm>
            <a:off x="6517386" y="5752336"/>
            <a:ext cx="1572768" cy="365760"/>
          </a:xfrm>
          <a:prstGeom prst="rect">
            <a:avLst/>
          </a:prstGeom>
          <a:noFill/>
          <a:ln/>
        </p:spPr>
        <p:txBody>
          <a:bodyPr wrap="square" lIns="0" tIns="0" rIns="0" bIns="0" rtlCol="0" anchor="ctr"/>
          <a:lstStyle/>
          <a:p>
            <a:pPr marL="0" indent="0" algn="ctr">
              <a:buNone/>
            </a:pPr>
            <a:r>
              <a:rPr lang="ko-KR" altLang="en-US" sz="1700" b="1" dirty="0">
                <a:solidFill>
                  <a:srgbClr val="23B8DA"/>
                </a:solidFill>
                <a:latin typeface="Noto Sans KR" pitchFamily="34" charset="0"/>
                <a:ea typeface="Noto Sans KR" pitchFamily="34" charset="-122"/>
                <a:cs typeface="Noto Sans KR" pitchFamily="34" charset="-120"/>
              </a:rPr>
              <a:t>Demo / PoC</a:t>
            </a:r>
            <a:endParaRPr lang="ko-KR" sz="1700" dirty="0"/>
          </a:p>
        </p:txBody>
      </p:sp>
      <p:sp>
        <p:nvSpPr>
          <p:cNvPr id="13" name="Shape 11"/>
          <p:cNvSpPr/>
          <p:nvPr/>
        </p:nvSpPr>
        <p:spPr>
          <a:xfrm>
            <a:off x="8236458" y="5852920"/>
            <a:ext cx="0" cy="192024"/>
          </a:xfrm>
          <a:prstGeom prst="line">
            <a:avLst/>
          </a:prstGeom>
          <a:noFill/>
          <a:ln w="8890">
            <a:solidFill>
              <a:srgbClr val="536984"/>
            </a:solidFill>
            <a:prstDash val="solid"/>
          </a:ln>
        </p:spPr>
      </p:sp>
      <p:sp>
        <p:nvSpPr>
          <p:cNvPr id="14" name="Text 12"/>
          <p:cNvSpPr/>
          <p:nvPr/>
        </p:nvSpPr>
        <p:spPr>
          <a:xfrm>
            <a:off x="8428482" y="5752336"/>
            <a:ext cx="1572768" cy="365760"/>
          </a:xfrm>
          <a:prstGeom prst="rect">
            <a:avLst/>
          </a:prstGeom>
          <a:noFill/>
          <a:ln/>
        </p:spPr>
        <p:txBody>
          <a:bodyPr wrap="square" lIns="0" tIns="0" rIns="0" bIns="0" rtlCol="0" anchor="ctr"/>
          <a:lstStyle/>
          <a:p>
            <a:pPr marL="0" indent="0" algn="ctr">
              <a:buNone/>
            </a:pPr>
            <a:r>
              <a:rPr lang="ko-KR" altLang="en-US" sz="1700" b="1" dirty="0">
                <a:solidFill>
                  <a:srgbClr val="23B8DA"/>
                </a:solidFill>
                <a:latin typeface="Noto Sans KR" pitchFamily="34" charset="0"/>
                <a:ea typeface="Noto Sans KR" pitchFamily="34" charset="-122"/>
                <a:cs typeface="Noto Sans KR" pitchFamily="34" charset="-120"/>
              </a:rPr>
              <a:t>대여</a:t>
            </a:r>
            <a:endParaRPr lang="ko-KR" sz="1700" dirty="0"/>
          </a:p>
        </p:txBody>
      </p:sp>
      <p:sp>
        <p:nvSpPr>
          <p:cNvPr id="15" name="Shape 13"/>
          <p:cNvSpPr/>
          <p:nvPr/>
        </p:nvSpPr>
        <p:spPr>
          <a:xfrm>
            <a:off x="10147554" y="5852920"/>
            <a:ext cx="0" cy="192024"/>
          </a:xfrm>
          <a:prstGeom prst="line">
            <a:avLst/>
          </a:prstGeom>
          <a:noFill/>
          <a:ln w="8890">
            <a:solidFill>
              <a:srgbClr val="536984"/>
            </a:solidFill>
            <a:prstDash val="solid"/>
          </a:ln>
        </p:spPr>
      </p:sp>
      <p:sp>
        <p:nvSpPr>
          <p:cNvPr id="16" name="Text 14"/>
          <p:cNvSpPr/>
          <p:nvPr/>
        </p:nvSpPr>
        <p:spPr>
          <a:xfrm>
            <a:off x="10339578" y="5752336"/>
            <a:ext cx="1572768" cy="365760"/>
          </a:xfrm>
          <a:prstGeom prst="rect">
            <a:avLst/>
          </a:prstGeom>
          <a:noFill/>
          <a:ln/>
        </p:spPr>
        <p:txBody>
          <a:bodyPr wrap="square" lIns="0" tIns="0" rIns="0" bIns="0" rtlCol="0" anchor="ctr"/>
          <a:lstStyle/>
          <a:p>
            <a:pPr marL="0" indent="0" algn="ctr">
              <a:buNone/>
            </a:pPr>
            <a:r>
              <a:rPr lang="ko-KR" altLang="en-US" sz="1700" b="1" dirty="0">
                <a:solidFill>
                  <a:srgbClr val="23B8DA"/>
                </a:solidFill>
                <a:latin typeface="Noto Sans KR" pitchFamily="34" charset="0"/>
                <a:ea typeface="Noto Sans KR" pitchFamily="34" charset="-122"/>
                <a:cs typeface="Noto Sans KR" pitchFamily="34" charset="-120"/>
              </a:rPr>
              <a:t>CS / AS</a:t>
            </a:r>
            <a:endParaRPr lang="ko-KR" sz="1700" dirty="0"/>
          </a:p>
        </p:txBody>
      </p:sp>
      <p:sp>
        <p:nvSpPr>
          <p:cNvPr id="17" name="Shape 15"/>
          <p:cNvSpPr/>
          <p:nvPr/>
        </p:nvSpPr>
        <p:spPr>
          <a:xfrm>
            <a:off x="738378" y="6355840"/>
            <a:ext cx="10716768" cy="0"/>
          </a:xfrm>
          <a:prstGeom prst="line">
            <a:avLst/>
          </a:prstGeom>
          <a:noFill/>
          <a:ln w="11430">
            <a:solidFill>
              <a:srgbClr val="3A4E69"/>
            </a:solidFill>
            <a:prstDash val="solid"/>
          </a:ln>
        </p:spPr>
      </p:sp>
      <p:sp>
        <p:nvSpPr>
          <p:cNvPr id="18" name="Text 16"/>
          <p:cNvSpPr/>
          <p:nvPr/>
        </p:nvSpPr>
        <p:spPr>
          <a:xfrm>
            <a:off x="3226689" y="6222872"/>
            <a:ext cx="7434072" cy="457200"/>
          </a:xfrm>
          <a:prstGeom prst="rect">
            <a:avLst/>
          </a:prstGeom>
          <a:noFill/>
          <a:ln/>
        </p:spPr>
        <p:txBody>
          <a:bodyPr wrap="square" lIns="0" tIns="0" rIns="0" bIns="0" rtlCol="0" anchor="ctr"/>
          <a:lstStyle/>
          <a:p>
            <a:pPr marL="0" indent="0">
              <a:buNone/>
            </a:pPr>
            <a:r>
              <a:rPr lang="ko-KR" altLang="en-US" sz="2500" b="1" dirty="0">
                <a:solidFill>
                  <a:srgbClr val="FFFFFF"/>
                </a:solidFill>
                <a:latin typeface="Noto Sans KR" pitchFamily="34" charset="0"/>
                <a:ea typeface="Noto Sans KR" pitchFamily="34" charset="-122"/>
                <a:cs typeface="Noto Sans KR" pitchFamily="34" charset="-120"/>
              </a:rPr>
              <a:t>우리 조직의 준비는 어디서 시작할까요?</a:t>
            </a:r>
            <a:endParaRPr lang="ko-KR" sz="2500" dirty="0"/>
          </a:p>
        </p:txBody>
      </p:sp>
      <p:sp>
        <p:nvSpPr>
          <p:cNvPr id="19" name="Text 17"/>
          <p:cNvSpPr/>
          <p:nvPr/>
        </p:nvSpPr>
        <p:spPr>
          <a:xfrm>
            <a:off x="9208008" y="6497192"/>
            <a:ext cx="2871216" cy="274320"/>
          </a:xfrm>
          <a:prstGeom prst="rect">
            <a:avLst/>
          </a:prstGeom>
          <a:noFill/>
          <a:ln/>
        </p:spPr>
        <p:txBody>
          <a:bodyPr wrap="square" lIns="0" tIns="0" rIns="0" bIns="0" rtlCol="0" anchor="ctr"/>
          <a:lstStyle/>
          <a:p>
            <a:pPr marL="0" indent="0" algn="r">
              <a:buNone/>
            </a:pPr>
            <a:r>
              <a:rPr lang="ko-KR" altLang="en-US" sz="1500" b="1" dirty="0">
                <a:solidFill>
                  <a:srgbClr val="FFFFFF"/>
                </a:solidFill>
                <a:latin typeface="Noto Sans KR" pitchFamily="34" charset="0"/>
                <a:ea typeface="Noto Sans KR" pitchFamily="34" charset="-122"/>
                <a:cs typeface="Noto Sans KR" pitchFamily="34" charset="-120"/>
              </a:rPr>
              <a:t>지니에듀테크(주)</a:t>
            </a:r>
            <a:endParaRPr lang="ko-KR" sz="1500" dirty="0"/>
          </a:p>
        </p:txBody>
      </p:sp>
      <p:sp>
        <p:nvSpPr>
          <p:cNvPr id="20" name="Text 18"/>
          <p:cNvSpPr/>
          <p:nvPr/>
        </p:nvSpPr>
        <p:spPr>
          <a:xfrm>
            <a:off x="-1673352" y="6588632"/>
            <a:ext cx="3931920" cy="182880"/>
          </a:xfrm>
          <a:prstGeom prst="rect">
            <a:avLst/>
          </a:prstGeom>
          <a:noFill/>
          <a:ln/>
        </p:spPr>
        <p:txBody>
          <a:bodyPr wrap="square" lIns="0" tIns="0" rIns="0" bIns="0" rtlCol="0" anchor="ctr"/>
          <a:lstStyle/>
          <a:p>
            <a:pPr marL="0" indent="0" algn="r">
              <a:buNone/>
            </a:pPr>
            <a:r>
              <a:rPr lang="ko-KR" altLang="en-US" sz="900" dirty="0">
                <a:solidFill>
                  <a:schemeClr val="bg1"/>
                </a:solidFill>
                <a:latin typeface="Noto Sans KR" pitchFamily="34" charset="0"/>
                <a:ea typeface="Noto Sans KR" pitchFamily="34" charset="-122"/>
                <a:cs typeface="Noto Sans KR" pitchFamily="34" charset="-120"/>
              </a:rPr>
              <a:t>공식 로고 · 웹사이트 · 문의처 · QR 삽입 영역</a:t>
            </a:r>
            <a:endParaRPr lang="ko-KR" sz="900" dirty="0">
              <a:solidFill>
                <a:schemeClr val="bg1"/>
              </a:solidFill>
            </a:endParaRPr>
          </a:p>
        </p:txBody>
      </p:sp>
      <p:sp>
        <p:nvSpPr>
          <p:cNvPr id="21" name="AutoShape 2" descr="Generated image: Eight-robot family product launch portrait">
            <a:extLst>
              <a:ext uri="{FF2B5EF4-FFF2-40B4-BE49-F238E27FC236}">
                <a16:creationId xmlns:a16="http://schemas.microsoft.com/office/drawing/2014/main" id="{C780FCA8-C570-6943-BE3D-4010FD3C7A44}"/>
              </a:ext>
            </a:extLst>
          </p:cNvPr>
          <p:cNvSpPr>
            <a:spLocks noChangeAspect="1" noChangeArrowheads="1"/>
          </p:cNvSpPr>
          <p:nvPr/>
        </p:nvSpPr>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25" name="AutoShape 10">
            <a:extLst>
              <a:ext uri="{FF2B5EF4-FFF2-40B4-BE49-F238E27FC236}">
                <a16:creationId xmlns:a16="http://schemas.microsoft.com/office/drawing/2014/main" id="{4DA28584-5805-D130-CDCF-4EB113659FDA}"/>
              </a:ext>
            </a:extLst>
          </p:cNvPr>
          <p:cNvSpPr>
            <a:spLocks noChangeAspect="1" noChangeArrowheads="1"/>
          </p:cNvSpPr>
          <p:nvPr/>
        </p:nvSpPr>
        <p:spPr bwMode="auto">
          <a:xfrm>
            <a:off x="1809750" y="1019175"/>
            <a:ext cx="8572500" cy="4819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1460</Words>
  <Application>Microsoft Office PowerPoint</Application>
  <PresentationFormat>Widescreen</PresentationFormat>
  <Paragraphs>266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Noto Sans KR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지니에듀테크(주)</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지니에듀테크 피지컬 AI 비즈니스 준비</dc:title>
  <dc:subject>피지컬 AI 시대를 준비하는 기업과 사람</dc:subject>
  <dc:creator>Genie Edutech</dc:creator>
  <cp:lastModifiedBy>user</cp:lastModifiedBy>
  <cp:revision>3</cp:revision>
  <dcterms:created xsi:type="dcterms:W3CDTF">2026-09-16T08:14:46Z</dcterms:created>
  <dcterms:modified xsi:type="dcterms:W3CDTF">2026-09-16T09:43:49Z</dcterms:modified>
</cp:coreProperties>
</file>